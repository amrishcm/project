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74" r:id="rId5"/>
    <p:sldId id="260" r:id="rId6"/>
    <p:sldId id="261" r:id="rId7"/>
    <p:sldId id="271" r:id="rId8"/>
    <p:sldId id="272" r:id="rId9"/>
    <p:sldId id="262" r:id="rId10"/>
    <p:sldId id="263" r:id="rId11"/>
    <p:sldId id="264" r:id="rId12"/>
    <p:sldId id="265" r:id="rId13"/>
    <p:sldId id="266" r:id="rId14"/>
    <p:sldId id="276" r:id="rId15"/>
    <p:sldId id="267" r:id="rId16"/>
    <p:sldId id="278" r:id="rId17"/>
    <p:sldId id="268" r:id="rId18"/>
    <p:sldId id="277" r:id="rId19"/>
    <p:sldId id="269" r:id="rId20"/>
    <p:sldId id="280" r:id="rId21"/>
    <p:sldId id="281" r:id="rId22"/>
    <p:sldId id="282" r:id="rId23"/>
    <p:sldId id="283" r:id="rId24"/>
    <p:sldId id="284" r:id="rId25"/>
    <p:sldId id="285" r:id="rId26"/>
    <p:sldId id="270" r:id="rId27"/>
    <p:sldId id="279" r:id="rId28"/>
    <p:sldId id="25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76" autoAdjust="0"/>
    <p:restoredTop sz="94660"/>
  </p:normalViewPr>
  <p:slideViewPr>
    <p:cSldViewPr snapToGrid="0">
      <p:cViewPr varScale="1">
        <p:scale>
          <a:sx n="72" d="100"/>
          <a:sy n="72" d="100"/>
        </p:scale>
        <p:origin x="8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B53A328-D5C3-40E3-B7F6-5458BD9A5144}"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371811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53A328-D5C3-40E3-B7F6-5458BD9A5144}"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2709367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53A328-D5C3-40E3-B7F6-5458BD9A5144}"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1235907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B53A328-D5C3-40E3-B7F6-5458BD9A5144}"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1364540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B53A328-D5C3-40E3-B7F6-5458BD9A5144}"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262517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B53A328-D5C3-40E3-B7F6-5458BD9A5144}"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3535184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53A328-D5C3-40E3-B7F6-5458BD9A5144}"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129131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53A328-D5C3-40E3-B7F6-5458BD9A5144}"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4209580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53A328-D5C3-40E3-B7F6-5458BD9A5144}"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2171277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53A328-D5C3-40E3-B7F6-5458BD9A5144}"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319903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53A328-D5C3-40E3-B7F6-5458BD9A5144}"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EB0A9D-E14D-4470-B100-6BBA84ED2DC0}" type="slidenum">
              <a:rPr lang="en-IN" smtClean="0"/>
              <a:t>‹#›</a:t>
            </a:fld>
            <a:endParaRPr lang="en-IN"/>
          </a:p>
        </p:txBody>
      </p:sp>
    </p:spTree>
    <p:extLst>
      <p:ext uri="{BB962C8B-B14F-4D97-AF65-F5344CB8AC3E}">
        <p14:creationId xmlns:p14="http://schemas.microsoft.com/office/powerpoint/2010/main" val="2917396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53A328-D5C3-40E3-B7F6-5458BD9A5144}" type="datetimeFigureOut">
              <a:rPr lang="en-IN" smtClean="0"/>
              <a:t>07-08-2026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B0A9D-E14D-4470-B100-6BBA84ED2DC0}" type="slidenum">
              <a:rPr lang="en-IN" smtClean="0"/>
              <a:t>‹#›</a:t>
            </a:fld>
            <a:endParaRPr lang="en-IN"/>
          </a:p>
        </p:txBody>
      </p:sp>
    </p:spTree>
    <p:extLst>
      <p:ext uri="{BB962C8B-B14F-4D97-AF65-F5344CB8AC3E}">
        <p14:creationId xmlns:p14="http://schemas.microsoft.com/office/powerpoint/2010/main" val="801030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a:extLst>
              <a:ext uri="{FF2B5EF4-FFF2-40B4-BE49-F238E27FC236}">
                <a16:creationId xmlns="" xmlns:a16="http://schemas.microsoft.com/office/drawing/2014/main" id="{F0E40944-0C58-5AD2-B997-7182DF1E39F0}"/>
              </a:ext>
            </a:extLst>
          </p:cNvPr>
          <p:cNvSpPr>
            <a:spLocks noGrp="1"/>
          </p:cNvSpPr>
          <p:nvPr/>
        </p:nvSpPr>
        <p:spPr>
          <a:xfrm>
            <a:off x="1223808" y="2990923"/>
            <a:ext cx="9144000" cy="771129"/>
          </a:xfrm>
          <a:prstGeom prst="rect">
            <a:avLst/>
          </a:prstGeom>
          <a:noFill/>
          <a:ln w="12700" cap="flat" cmpd="sng">
            <a:noFill/>
            <a:prstDash val="solid"/>
            <a:miter/>
          </a:ln>
        </p:spPr>
        <p:txBody>
          <a:bodyPr vert="horz" wrap="square" lIns="91440" tIns="45720" rIns="91440" bIns="45720" anchor="t" anchorCtr="0">
            <a:prstTxWarp prst="textNoShape">
              <a:avLst/>
            </a:prstTxWarp>
            <a:normAutofit fontScale="98125"/>
          </a:bodyPr>
          <a:lstStyle>
            <a:lvl1pPr marL="285750" indent="-285750" algn="l" defTabSz="914400" eaLnBrk="1" fontAlgn="auto" latinLnBrk="0" hangingPunct="1">
              <a:spcBef>
                <a:spcPct val="20000"/>
              </a:spcBef>
              <a:spcAft>
                <a:spcPts val="600"/>
              </a:spcAft>
              <a:buClr>
                <a:srgbClr val="1287C2"/>
              </a:buClr>
              <a:buSzPct val="145000"/>
              <a:buFont typeface="Arial" charset="0"/>
              <a:buChar char="•"/>
              <a:defRPr sz="2400" kern="1200" cap="none">
                <a:solidFill>
                  <a:schemeClr val="tx1"/>
                </a:solidFill>
                <a:latin typeface="Corbel" charset="0"/>
                <a:ea typeface="华文楷体" charset="0"/>
                <a:cs typeface="Corbel" charset="0"/>
              </a:defRPr>
            </a:lvl1pPr>
            <a:lvl2pPr marL="742950" indent="-285750" algn="l" defTabSz="914400" eaLnBrk="1" fontAlgn="auto" latinLnBrk="0" hangingPunct="1">
              <a:spcBef>
                <a:spcPct val="20000"/>
              </a:spcBef>
              <a:spcAft>
                <a:spcPts val="600"/>
              </a:spcAft>
              <a:buClr>
                <a:srgbClr val="1287C2"/>
              </a:buClr>
              <a:buSzPct val="145000"/>
              <a:buFont typeface="Arial" charset="0"/>
              <a:buChar char="•"/>
              <a:defRPr sz="2000" kern="1200" cap="none">
                <a:solidFill>
                  <a:schemeClr val="tx1"/>
                </a:solidFill>
                <a:latin typeface="Corbel" charset="0"/>
                <a:ea typeface="华文楷体" charset="0"/>
                <a:cs typeface="Corbel" charset="0"/>
              </a:defRPr>
            </a:lvl2pPr>
            <a:lvl3pPr marL="1200150" indent="-285750" algn="l" defTabSz="914400" eaLnBrk="1" fontAlgn="auto" latinLnBrk="0" hangingPunct="1">
              <a:spcBef>
                <a:spcPct val="20000"/>
              </a:spcBef>
              <a:spcAft>
                <a:spcPts val="600"/>
              </a:spcAft>
              <a:buClr>
                <a:srgbClr val="1287C2"/>
              </a:buClr>
              <a:buSzPct val="145000"/>
              <a:buFont typeface="Arial" charset="0"/>
              <a:buChar char="•"/>
              <a:defRPr sz="1800" kern="1200" cap="none">
                <a:solidFill>
                  <a:schemeClr val="tx1"/>
                </a:solidFill>
                <a:latin typeface="Corbel" charset="0"/>
                <a:ea typeface="华文楷体" charset="0"/>
                <a:cs typeface="Corbel" charset="0"/>
              </a:defRPr>
            </a:lvl3pPr>
            <a:lvl4pPr marL="1543050" indent="-171450" algn="l" defTabSz="914400" eaLnBrk="1" fontAlgn="auto" latinLnBrk="0" hangingPunct="1">
              <a:spcBef>
                <a:spcPct val="20000"/>
              </a:spcBef>
              <a:spcAft>
                <a:spcPts val="600"/>
              </a:spcAft>
              <a:buClr>
                <a:srgbClr val="1287C2"/>
              </a:buClr>
              <a:buSzPct val="145000"/>
              <a:buFont typeface="Arial" charset="0"/>
              <a:buChar char="•"/>
              <a:defRPr sz="1600" kern="1200" cap="none">
                <a:solidFill>
                  <a:schemeClr val="tx1"/>
                </a:solidFill>
                <a:latin typeface="Corbel" charset="0"/>
                <a:ea typeface="华文楷体" charset="0"/>
                <a:cs typeface="Corbel" charset="0"/>
              </a:defRPr>
            </a:lvl4pPr>
            <a:lvl5pPr marL="2000250" indent="-171450" algn="l" defTabSz="914400" eaLnBrk="1" fontAlgn="auto" latinLnBrk="0" hangingPunct="1">
              <a:spcBef>
                <a:spcPct val="20000"/>
              </a:spcBef>
              <a:spcAft>
                <a:spcPts val="600"/>
              </a:spcAft>
              <a:buClr>
                <a:srgbClr val="1287C2"/>
              </a:buClr>
              <a:buSzPct val="145000"/>
              <a:buFont typeface="Arial" charset="0"/>
              <a:buChar char="•"/>
              <a:defRPr sz="1400" kern="1200" cap="none">
                <a:solidFill>
                  <a:schemeClr val="tx1"/>
                </a:solidFill>
                <a:latin typeface="Corbel" charset="0"/>
                <a:ea typeface="华文楷体" charset="0"/>
                <a:cs typeface="Corbel" charset="0"/>
              </a:defRPr>
            </a:lvl5pPr>
            <a:lvl6pPr marL="2514600" indent="-228600" algn="l" defTabSz="914400" eaLnBrk="1" fontAlgn="auto" latinLnBrk="0" hangingPunct="1">
              <a:spcBef>
                <a:spcPct val="20000"/>
              </a:spcBef>
              <a:spcAft>
                <a:spcPts val="600"/>
              </a:spcAft>
              <a:buClr>
                <a:srgbClr val="1287C2"/>
              </a:buClr>
              <a:buSzPct val="145000"/>
              <a:buFont typeface="Arial" charset="0"/>
              <a:buChar char="•"/>
              <a:defRPr sz="1400" kern="1200" cap="none">
                <a:solidFill>
                  <a:schemeClr val="tx1"/>
                </a:solidFill>
                <a:latin typeface="Corbel" charset="0"/>
                <a:ea typeface="华文楷体" charset="0"/>
                <a:cs typeface="Corbel" charset="0"/>
              </a:defRPr>
            </a:lvl6pPr>
            <a:lvl7pPr marL="2971800" indent="-228600" algn="l" defTabSz="914400" eaLnBrk="1" fontAlgn="auto" latinLnBrk="0" hangingPunct="1">
              <a:spcBef>
                <a:spcPct val="20000"/>
              </a:spcBef>
              <a:spcAft>
                <a:spcPts val="600"/>
              </a:spcAft>
              <a:buClr>
                <a:srgbClr val="1287C2"/>
              </a:buClr>
              <a:buSzPct val="145000"/>
              <a:buFont typeface="Arial" charset="0"/>
              <a:buChar char="•"/>
              <a:defRPr sz="1400" kern="1200" cap="none">
                <a:solidFill>
                  <a:schemeClr val="tx1"/>
                </a:solidFill>
                <a:latin typeface="Corbel" charset="0"/>
                <a:ea typeface="华文楷体" charset="0"/>
                <a:cs typeface="Corbel" charset="0"/>
              </a:defRPr>
            </a:lvl7pPr>
            <a:lvl8pPr marL="3429000" indent="-228600" algn="l" defTabSz="914400" eaLnBrk="1" fontAlgn="auto" latinLnBrk="0" hangingPunct="1">
              <a:spcBef>
                <a:spcPct val="20000"/>
              </a:spcBef>
              <a:spcAft>
                <a:spcPts val="600"/>
              </a:spcAft>
              <a:buClr>
                <a:srgbClr val="1287C2"/>
              </a:buClr>
              <a:buSzPct val="145000"/>
              <a:buFont typeface="Arial" charset="0"/>
              <a:buChar char="•"/>
              <a:defRPr sz="1400" kern="1200" cap="none">
                <a:solidFill>
                  <a:schemeClr val="tx1"/>
                </a:solidFill>
                <a:latin typeface="Corbel" charset="0"/>
                <a:ea typeface="华文楷体" charset="0"/>
                <a:cs typeface="Corbel" charset="0"/>
              </a:defRPr>
            </a:lvl8pPr>
            <a:lvl9pPr marL="3429000" indent="-228600" algn="l" defTabSz="914400" eaLnBrk="1" fontAlgn="auto" latinLnBrk="0" hangingPunct="1">
              <a:spcBef>
                <a:spcPct val="20000"/>
              </a:spcBef>
              <a:spcAft>
                <a:spcPts val="600"/>
              </a:spcAft>
              <a:buClr>
                <a:srgbClr val="1287C2"/>
              </a:buClr>
              <a:buSzPct val="145000"/>
              <a:buFont typeface="Arial" charset="0"/>
              <a:buChar char="•"/>
              <a:defRPr sz="1400" kern="1200" cap="none">
                <a:solidFill>
                  <a:schemeClr val="tx1"/>
                </a:solidFill>
                <a:latin typeface="Corbel" charset="0"/>
                <a:ea typeface="华文楷体" charset="0"/>
                <a:cs typeface="Corbel" charset="0"/>
              </a:defRPr>
            </a:lvl9pPr>
          </a:lstStyle>
          <a:p>
            <a:endParaRPr lang="en-US" b="1">
              <a:solidFill>
                <a:srgbClr val="009242"/>
              </a:solidFill>
              <a:latin typeface="Times New Roman" panose="02020603050405020304" pitchFamily="18" charset="0"/>
              <a:cs typeface="Times New Roman" panose="02020603050405020304" pitchFamily="18" charset="0"/>
            </a:endParaRPr>
          </a:p>
        </p:txBody>
      </p:sp>
      <p:sp>
        <p:nvSpPr>
          <p:cNvPr id="14" name="Text Placeholder 7">
            <a:extLst>
              <a:ext uri="{FF2B5EF4-FFF2-40B4-BE49-F238E27FC236}">
                <a16:creationId xmlns="" xmlns:a16="http://schemas.microsoft.com/office/drawing/2014/main" id="{BD05DD9F-07F0-144E-0E60-9186747946D7}"/>
              </a:ext>
            </a:extLst>
          </p:cNvPr>
          <p:cNvSpPr txBox="1"/>
          <p:nvPr/>
        </p:nvSpPr>
        <p:spPr>
          <a:xfrm>
            <a:off x="1344488" y="1980803"/>
            <a:ext cx="9144000" cy="491835"/>
          </a:xfrm>
          <a:prstGeom prst="roundRect">
            <a:avLst>
              <a:gd name="adj" fmla="val 50000"/>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lIns="91433" tIns="45716" rIns="91433" bIns="45716">
            <a:noAutofit/>
          </a:bodyPr>
          <a:lstStyle>
            <a:defPPr>
              <a:defRPr lang="zh-CN"/>
            </a:defPPr>
            <a:lvl1pPr marL="0" indent="0" algn="l" defTabSz="914400" eaLnBrk="1" fontAlgn="auto" latinLnBrk="0" hangingPunct="1">
              <a:buNone/>
              <a:defRPr sz="1800" kern="1200">
                <a:solidFill>
                  <a:schemeClr val="dk1"/>
                </a:solidFill>
                <a:latin typeface="+mn-lt"/>
                <a:ea typeface="+mn-ea"/>
                <a:cs typeface="+mn-cs"/>
              </a:defRPr>
            </a:lvl1pPr>
            <a:lvl2pPr marL="457200" indent="0" algn="l" defTabSz="914400" eaLnBrk="1" fontAlgn="auto" latinLnBrk="0" hangingPunct="1">
              <a:buNone/>
              <a:defRPr sz="1800" kern="1200">
                <a:solidFill>
                  <a:schemeClr val="dk1"/>
                </a:solidFill>
                <a:latin typeface="+mn-lt"/>
                <a:ea typeface="+mn-ea"/>
                <a:cs typeface="+mn-cs"/>
              </a:defRPr>
            </a:lvl2pPr>
            <a:lvl3pPr marL="914400" indent="0" algn="l" defTabSz="914400" eaLnBrk="1" fontAlgn="auto" latinLnBrk="0" hangingPunct="1">
              <a:buNone/>
              <a:defRPr sz="1800" kern="1200">
                <a:solidFill>
                  <a:schemeClr val="dk1"/>
                </a:solidFill>
                <a:latin typeface="+mn-lt"/>
                <a:ea typeface="+mn-ea"/>
                <a:cs typeface="+mn-cs"/>
              </a:defRPr>
            </a:lvl3pPr>
            <a:lvl4pPr marL="1371600" indent="0" algn="l" defTabSz="914400" eaLnBrk="1" fontAlgn="auto" latinLnBrk="0" hangingPunct="1">
              <a:buNone/>
              <a:defRPr sz="1800" kern="1200">
                <a:solidFill>
                  <a:schemeClr val="dk1"/>
                </a:solidFill>
                <a:latin typeface="+mn-lt"/>
                <a:ea typeface="+mn-ea"/>
                <a:cs typeface="+mn-cs"/>
              </a:defRPr>
            </a:lvl4pPr>
            <a:lvl5pPr marL="1828800" indent="0" algn="l" defTabSz="914400" eaLnBrk="1" fontAlgn="auto" latinLnBrk="0" hangingPunct="1">
              <a:buNone/>
              <a:defRPr sz="1800" kern="1200">
                <a:solidFill>
                  <a:schemeClr val="dk1"/>
                </a:solidFill>
                <a:latin typeface="+mn-lt"/>
                <a:ea typeface="+mn-ea"/>
                <a:cs typeface="+mn-cs"/>
              </a:defRPr>
            </a:lvl5pPr>
            <a:lvl6pPr marL="2286000" indent="0" algn="l" defTabSz="914400" eaLnBrk="1" fontAlgn="auto" latinLnBrk="0" hangingPunct="1">
              <a:buNone/>
              <a:defRPr sz="1800" kern="1200">
                <a:solidFill>
                  <a:schemeClr val="dk1"/>
                </a:solidFill>
                <a:latin typeface="+mn-lt"/>
                <a:ea typeface="+mn-ea"/>
                <a:cs typeface="+mn-cs"/>
              </a:defRPr>
            </a:lvl6pPr>
            <a:lvl7pPr marL="2743200" indent="0" algn="l" defTabSz="914400" eaLnBrk="1" fontAlgn="auto" latinLnBrk="0" hangingPunct="1">
              <a:buNone/>
              <a:defRPr sz="1800" kern="1200">
                <a:solidFill>
                  <a:schemeClr val="dk1"/>
                </a:solidFill>
                <a:latin typeface="+mn-lt"/>
                <a:ea typeface="+mn-ea"/>
                <a:cs typeface="+mn-cs"/>
              </a:defRPr>
            </a:lvl7pPr>
            <a:lvl8pPr marL="3200400" indent="0" algn="l" defTabSz="914400" eaLnBrk="1" fontAlgn="auto" latinLnBrk="0" hangingPunct="1">
              <a:buNone/>
              <a:defRPr sz="1800" kern="1200">
                <a:solidFill>
                  <a:schemeClr val="dk1"/>
                </a:solidFill>
                <a:latin typeface="+mn-lt"/>
                <a:ea typeface="+mn-ea"/>
                <a:cs typeface="+mn-cs"/>
              </a:defRPr>
            </a:lvl8pPr>
            <a:lvl9pPr marL="3200400" indent="0" algn="l" defTabSz="914400" eaLnBrk="1" fontAlgn="auto" latinLnBrk="0" hangingPunct="1">
              <a:buNone/>
              <a:defRPr sz="1800" kern="1200">
                <a:solidFill>
                  <a:schemeClr val="dk1"/>
                </a:solidFill>
                <a:latin typeface="+mn-lt"/>
                <a:ea typeface="+mn-ea"/>
                <a:cs typeface="+mn-cs"/>
              </a:defRPr>
            </a:lvl9pPr>
          </a:lstStyle>
          <a:p>
            <a:pPr lvl="0" algn="ctr">
              <a:spcBef>
                <a:spcPct val="20000"/>
              </a:spcBef>
            </a:pPr>
            <a:r>
              <a:rPr lang="en-US" b="1" dirty="0">
                <a:solidFill>
                  <a:srgbClr val="660066"/>
                </a:solidFill>
                <a:latin typeface="Times New Roman" pitchFamily="18" charset="0"/>
                <a:cs typeface="Times New Roman" pitchFamily="18" charset="0"/>
              </a:rPr>
              <a:t>DEPARTMENT OF COMPUTER SCIENCE AND  ENGINEERING</a:t>
            </a:r>
          </a:p>
        </p:txBody>
      </p:sp>
      <p:pic>
        <p:nvPicPr>
          <p:cNvPr id="15" name="Picture 14" descr="logo NEW (1)">
            <a:extLst>
              <a:ext uri="{FF2B5EF4-FFF2-40B4-BE49-F238E27FC236}">
                <a16:creationId xmlns="" xmlns:a16="http://schemas.microsoft.com/office/drawing/2014/main" id="{F5EB7A50-006F-3E78-4D7D-0F813CF87E80}"/>
              </a:ext>
            </a:extLst>
          </p:cNvPr>
          <p:cNvPicPr>
            <a:picLocks/>
          </p:cNvPicPr>
          <p:nvPr/>
        </p:nvPicPr>
        <p:blipFill>
          <a:blip r:embed="rId2"/>
          <a:srcRect/>
          <a:stretch>
            <a:fillRect/>
          </a:stretch>
        </p:blipFill>
        <p:spPr bwMode="auto">
          <a:xfrm>
            <a:off x="1223807" y="166931"/>
            <a:ext cx="9825193" cy="1143008"/>
          </a:xfrm>
          <a:prstGeom prst="rect">
            <a:avLst/>
          </a:prstGeom>
          <a:noFill/>
          <a:ln w="9525">
            <a:noFill/>
            <a:miter lim="800000"/>
            <a:headEnd/>
            <a:tailEnd/>
          </a:ln>
        </p:spPr>
      </p:pic>
      <p:sp>
        <p:nvSpPr>
          <p:cNvPr id="16" name="Text Placeholder 7">
            <a:extLst>
              <a:ext uri="{FF2B5EF4-FFF2-40B4-BE49-F238E27FC236}">
                <a16:creationId xmlns="" xmlns:a16="http://schemas.microsoft.com/office/drawing/2014/main" id="{42AE5AD8-901C-E4BE-1418-4FC5F05EA60C}"/>
              </a:ext>
            </a:extLst>
          </p:cNvPr>
          <p:cNvSpPr txBox="1"/>
          <p:nvPr/>
        </p:nvSpPr>
        <p:spPr>
          <a:xfrm>
            <a:off x="1439324" y="2498090"/>
            <a:ext cx="8712968" cy="491835"/>
          </a:xfrm>
          <a:prstGeom prst="roundRect">
            <a:avLst>
              <a:gd name="adj" fmla="val 50000"/>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lIns="91433" tIns="45716" rIns="91433" bIns="45716">
            <a:noAutofit/>
          </a:bodyPr>
          <a:lstStyle>
            <a:defPPr>
              <a:defRPr lang="zh-CN"/>
            </a:defPPr>
            <a:lvl1pPr marL="0" indent="0" algn="l" defTabSz="914400" eaLnBrk="1" fontAlgn="auto" latinLnBrk="0" hangingPunct="1">
              <a:buNone/>
              <a:defRPr sz="1800" kern="1200">
                <a:solidFill>
                  <a:schemeClr val="dk1"/>
                </a:solidFill>
                <a:latin typeface="+mn-lt"/>
                <a:ea typeface="+mn-ea"/>
                <a:cs typeface="+mn-cs"/>
              </a:defRPr>
            </a:lvl1pPr>
            <a:lvl2pPr marL="457200" indent="0" algn="l" defTabSz="914400" eaLnBrk="1" fontAlgn="auto" latinLnBrk="0" hangingPunct="1">
              <a:buNone/>
              <a:defRPr sz="1800" kern="1200">
                <a:solidFill>
                  <a:schemeClr val="dk1"/>
                </a:solidFill>
                <a:latin typeface="+mn-lt"/>
                <a:ea typeface="+mn-ea"/>
                <a:cs typeface="+mn-cs"/>
              </a:defRPr>
            </a:lvl2pPr>
            <a:lvl3pPr marL="914400" indent="0" algn="l" defTabSz="914400" eaLnBrk="1" fontAlgn="auto" latinLnBrk="0" hangingPunct="1">
              <a:buNone/>
              <a:defRPr sz="1800" kern="1200">
                <a:solidFill>
                  <a:schemeClr val="dk1"/>
                </a:solidFill>
                <a:latin typeface="+mn-lt"/>
                <a:ea typeface="+mn-ea"/>
                <a:cs typeface="+mn-cs"/>
              </a:defRPr>
            </a:lvl3pPr>
            <a:lvl4pPr marL="1371600" indent="0" algn="l" defTabSz="914400" eaLnBrk="1" fontAlgn="auto" latinLnBrk="0" hangingPunct="1">
              <a:buNone/>
              <a:defRPr sz="1800" kern="1200">
                <a:solidFill>
                  <a:schemeClr val="dk1"/>
                </a:solidFill>
                <a:latin typeface="+mn-lt"/>
                <a:ea typeface="+mn-ea"/>
                <a:cs typeface="+mn-cs"/>
              </a:defRPr>
            </a:lvl4pPr>
            <a:lvl5pPr marL="1828800" indent="0" algn="l" defTabSz="914400" eaLnBrk="1" fontAlgn="auto" latinLnBrk="0" hangingPunct="1">
              <a:buNone/>
              <a:defRPr sz="1800" kern="1200">
                <a:solidFill>
                  <a:schemeClr val="dk1"/>
                </a:solidFill>
                <a:latin typeface="+mn-lt"/>
                <a:ea typeface="+mn-ea"/>
                <a:cs typeface="+mn-cs"/>
              </a:defRPr>
            </a:lvl5pPr>
            <a:lvl6pPr marL="2286000" indent="0" algn="l" defTabSz="914400" eaLnBrk="1" fontAlgn="auto" latinLnBrk="0" hangingPunct="1">
              <a:buNone/>
              <a:defRPr sz="1800" kern="1200">
                <a:solidFill>
                  <a:schemeClr val="dk1"/>
                </a:solidFill>
                <a:latin typeface="+mn-lt"/>
                <a:ea typeface="+mn-ea"/>
                <a:cs typeface="+mn-cs"/>
              </a:defRPr>
            </a:lvl6pPr>
            <a:lvl7pPr marL="2743200" indent="0" algn="l" defTabSz="914400" eaLnBrk="1" fontAlgn="auto" latinLnBrk="0" hangingPunct="1">
              <a:buNone/>
              <a:defRPr sz="1800" kern="1200">
                <a:solidFill>
                  <a:schemeClr val="dk1"/>
                </a:solidFill>
                <a:latin typeface="+mn-lt"/>
                <a:ea typeface="+mn-ea"/>
                <a:cs typeface="+mn-cs"/>
              </a:defRPr>
            </a:lvl7pPr>
            <a:lvl8pPr marL="3200400" indent="0" algn="l" defTabSz="914400" eaLnBrk="1" fontAlgn="auto" latinLnBrk="0" hangingPunct="1">
              <a:buNone/>
              <a:defRPr sz="1800" kern="1200">
                <a:solidFill>
                  <a:schemeClr val="dk1"/>
                </a:solidFill>
                <a:latin typeface="+mn-lt"/>
                <a:ea typeface="+mn-ea"/>
                <a:cs typeface="+mn-cs"/>
              </a:defRPr>
            </a:lvl8pPr>
            <a:lvl9pPr marL="3200400" indent="0" algn="l" defTabSz="914400" eaLnBrk="1" fontAlgn="auto" latinLnBrk="0" hangingPunct="1">
              <a:buNone/>
              <a:defRPr sz="1800" kern="1200">
                <a:solidFill>
                  <a:schemeClr val="dk1"/>
                </a:solidFill>
                <a:latin typeface="+mn-lt"/>
                <a:ea typeface="+mn-ea"/>
                <a:cs typeface="+mn-cs"/>
              </a:defRPr>
            </a:lvl9pPr>
          </a:lstStyle>
          <a:p>
            <a:pPr lvl="0" algn="ctr">
              <a:spcBef>
                <a:spcPct val="20000"/>
              </a:spcBef>
            </a:pPr>
            <a:r>
              <a:rPr lang="en-US" sz="2000" b="1" dirty="0">
                <a:solidFill>
                  <a:srgbClr val="00682F"/>
                </a:solidFill>
                <a:latin typeface="Times New Roman" pitchFamily="18" charset="0"/>
                <a:cs typeface="Times New Roman" pitchFamily="18" charset="0"/>
              </a:rPr>
              <a:t>PROJECT WORK </a:t>
            </a:r>
            <a:r>
              <a:rPr lang="en-US" sz="2000" b="1" dirty="0" smtClean="0">
                <a:solidFill>
                  <a:srgbClr val="00682F"/>
                </a:solidFill>
                <a:latin typeface="Times New Roman" pitchFamily="18" charset="0"/>
                <a:cs typeface="Times New Roman" pitchFamily="18" charset="0"/>
              </a:rPr>
              <a:t>PHASE-II</a:t>
            </a:r>
            <a:endParaRPr lang="en-US" sz="2000" b="1" dirty="0">
              <a:solidFill>
                <a:srgbClr val="00682F"/>
              </a:solidFill>
              <a:latin typeface="Times New Roman" pitchFamily="18" charset="0"/>
              <a:cs typeface="Times New Roman" pitchFamily="18" charset="0"/>
            </a:endParaRPr>
          </a:p>
        </p:txBody>
      </p:sp>
      <p:sp>
        <p:nvSpPr>
          <p:cNvPr id="17" name="TextBox 16">
            <a:extLst>
              <a:ext uri="{FF2B5EF4-FFF2-40B4-BE49-F238E27FC236}">
                <a16:creationId xmlns="" xmlns:a16="http://schemas.microsoft.com/office/drawing/2014/main" id="{E4DC113D-8C2D-573C-51F9-A4DEC3EC4D5F}"/>
              </a:ext>
            </a:extLst>
          </p:cNvPr>
          <p:cNvSpPr txBox="1"/>
          <p:nvPr/>
        </p:nvSpPr>
        <p:spPr>
          <a:xfrm>
            <a:off x="524580" y="3015377"/>
            <a:ext cx="1166742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TexVision AI: Intelligent Fabric Defect Detection and Quality Inspection System</a:t>
            </a:r>
            <a:endParaRPr lang="en-IN" sz="20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 xmlns:a16="http://schemas.microsoft.com/office/drawing/2014/main" id="{6873CE38-5290-B614-A34E-899857386EFE}"/>
              </a:ext>
            </a:extLst>
          </p:cNvPr>
          <p:cNvSpPr txBox="1"/>
          <p:nvPr/>
        </p:nvSpPr>
        <p:spPr>
          <a:xfrm>
            <a:off x="689680" y="5357639"/>
            <a:ext cx="4718023"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PROJECT MEMBER:</a:t>
            </a:r>
          </a:p>
          <a:p>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AMRISH CM                  </a:t>
            </a:r>
            <a:r>
              <a:rPr lang="en-US" b="1" dirty="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61232312007)</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 xmlns:a16="http://schemas.microsoft.com/office/drawing/2014/main" id="{0FE358A1-EF00-04AE-ECDE-099C01931141}"/>
              </a:ext>
            </a:extLst>
          </p:cNvPr>
          <p:cNvSpPr txBox="1"/>
          <p:nvPr/>
        </p:nvSpPr>
        <p:spPr>
          <a:xfrm>
            <a:off x="6836072" y="5357639"/>
            <a:ext cx="4365234"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GUIDED BY </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b="1" dirty="0" err="1" smtClean="0">
                <a:solidFill>
                  <a:srgbClr val="272525"/>
                </a:solidFill>
                <a:latin typeface="Arial" panose="020B0604020202020204" pitchFamily="34" charset="0"/>
                <a:ea typeface="Inter" pitchFamily="34" charset="-122"/>
                <a:cs typeface="Arial" panose="020B0604020202020204" pitchFamily="34" charset="0"/>
              </a:rPr>
              <a:t>Mrs.S.HEMALATHA</a:t>
            </a:r>
            <a:r>
              <a:rPr lang="en-US" b="1" dirty="0" smtClean="0">
                <a:solidFill>
                  <a:srgbClr val="272525"/>
                </a:solidFill>
                <a:latin typeface="Arial" panose="020B0604020202020204" pitchFamily="34" charset="0"/>
                <a:ea typeface="Inter" pitchFamily="34" charset="-122"/>
                <a:cs typeface="Arial" panose="020B0604020202020204" pitchFamily="34" charset="0"/>
              </a:rPr>
              <a:t> </a:t>
            </a:r>
            <a:r>
              <a:rPr lang="en-US" b="1" dirty="0" smtClean="0">
                <a:solidFill>
                  <a:srgbClr val="272525"/>
                </a:solidFill>
                <a:latin typeface="Arial" panose="020B0604020202020204" pitchFamily="34" charset="0"/>
                <a:ea typeface="Inter" pitchFamily="34" charset="-122"/>
                <a:cs typeface="Arial" panose="020B0604020202020204" pitchFamily="34" charset="0"/>
              </a:rPr>
              <a:t>M.E.,</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108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69374" y="424924"/>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ABSTRACT</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B9F7B9C0-B6C4-3A08-14DD-83FF1FD95A03}"/>
              </a:ext>
            </a:extLst>
          </p:cNvPr>
          <p:cNvSpPr txBox="1">
            <a:spLocks/>
          </p:cNvSpPr>
          <p:nvPr/>
        </p:nvSpPr>
        <p:spPr>
          <a:xfrm>
            <a:off x="769374" y="1253331"/>
            <a:ext cx="10515600" cy="5057528"/>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pPr>
            <a:endParaRPr lang="en-US" sz="1800" b="1" dirty="0" smtClean="0">
              <a:latin typeface="Times New Roman" panose="02020603050405020304" pitchFamily="18" charset="0"/>
              <a:cs typeface="Times New Roman" panose="02020603050405020304" pitchFamily="18" charset="0"/>
            </a:endParaRPr>
          </a:p>
          <a:p>
            <a:pPr algn="just">
              <a:lnSpc>
                <a:spcPct val="150000"/>
              </a:lnSpc>
            </a:pPr>
            <a:r>
              <a:rPr lang="en-US" sz="1800" b="1" dirty="0">
                <a:latin typeface="Times New Roman" panose="02020603050405020304" pitchFamily="18" charset="0"/>
                <a:cs typeface="Times New Roman" panose="02020603050405020304" pitchFamily="18" charset="0"/>
              </a:rPr>
              <a:t>TexVision AI</a:t>
            </a:r>
            <a:r>
              <a:rPr lang="en-US" sz="1800" dirty="0">
                <a:latin typeface="Times New Roman" panose="02020603050405020304" pitchFamily="18" charset="0"/>
                <a:cs typeface="Times New Roman" panose="02020603050405020304" pitchFamily="18" charset="0"/>
              </a:rPr>
              <a:t> is an intelligent, AI-powered fabric defect detection and quality inspection system designed to improve textile manufacturing quality, reduce manual inspection efforts, and enhance production efficiency. Traditional fabric inspection methods rely on manual visual examination, which is time-consuming, inconsistent, and susceptible to human error. To overcome these challenges, TexVision AI adopts an advanced computer vision approach by continuously analyzing live camera feeds and fabric images for real-time defect detection and quality assessment</a:t>
            </a:r>
            <a:r>
              <a:rPr lang="en-US" sz="1800" dirty="0" smtClean="0">
                <a:latin typeface="Times New Roman" panose="02020603050405020304" pitchFamily="18" charset="0"/>
                <a:cs typeface="Times New Roman" panose="02020603050405020304" pitchFamily="18" charset="0"/>
              </a:rPr>
              <a:t>.</a:t>
            </a:r>
          </a:p>
          <a:p>
            <a:pPr algn="just">
              <a:lnSpc>
                <a:spcPct val="150000"/>
              </a:lnSpc>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platform integrates state-of-the-art deep learning models, including </a:t>
            </a:r>
            <a:r>
              <a:rPr lang="en-US" sz="1800" b="1" dirty="0">
                <a:latin typeface="Times New Roman" panose="02020603050405020304" pitchFamily="18" charset="0"/>
                <a:cs typeface="Times New Roman" panose="02020603050405020304" pitchFamily="18" charset="0"/>
              </a:rPr>
              <a:t>YOLO-based object detection</a:t>
            </a:r>
            <a:r>
              <a:rPr lang="en-US" sz="1800" dirty="0">
                <a:latin typeface="Times New Roman" panose="02020603050405020304" pitchFamily="18" charset="0"/>
                <a:cs typeface="Times New Roman" panose="02020603050405020304" pitchFamily="18" charset="0"/>
              </a:rPr>
              <a:t>, to accurately identify and classify fabric defects such as holes, stains, weaving faults, misprints, and broken yarns. Supported by an enterprise architecture featuring an </a:t>
            </a:r>
            <a:r>
              <a:rPr lang="en-US" sz="1800" b="1" dirty="0">
                <a:latin typeface="Times New Roman" panose="02020603050405020304" pitchFamily="18" charset="0"/>
                <a:cs typeface="Times New Roman" panose="02020603050405020304" pitchFamily="18" charset="0"/>
              </a:rPr>
              <a:t>AI Service Manager</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Dataset Manager</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Model Manager</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real-time inspection pipeline</a:t>
            </a:r>
            <a:r>
              <a:rPr lang="en-US" sz="1800" dirty="0">
                <a:latin typeface="Times New Roman" panose="02020603050405020304" pitchFamily="18" charset="0"/>
                <a:cs typeface="Times New Roman" panose="02020603050405020304" pitchFamily="18" charset="0"/>
              </a:rPr>
              <a:t>, the system enables automated defect detection, inspection report generation, quality analytics, and model lifecycle management. This intelligent solution helps textile manufacturers achieve faster inspections, improved accuracy, reduced production waste, and consistent product quality while supporting future scalability for industrial automation and smart manufacturing.</a:t>
            </a:r>
          </a:p>
          <a:p>
            <a:pPr algn="l">
              <a:lnSpc>
                <a:spcPct val="170000"/>
              </a:lnSpc>
            </a:pPr>
            <a:endParaRPr lang="en-US" sz="1800" dirty="0" smtClean="0">
              <a:latin typeface="Times New Roman" panose="02020603050405020304" pitchFamily="18" charset="0"/>
              <a:cs typeface="Times New Roman" panose="02020603050405020304" pitchFamily="18" charset="0"/>
            </a:endParaRPr>
          </a:p>
          <a:p>
            <a:pPr>
              <a:lnSpc>
                <a:spcPct val="11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621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D0EB67F8-89AD-C700-6D2B-436432D3A371}"/>
              </a:ext>
            </a:extLst>
          </p:cNvPr>
          <p:cNvSpPr txBox="1">
            <a:spLocks/>
          </p:cNvSpPr>
          <p:nvPr/>
        </p:nvSpPr>
        <p:spPr>
          <a:xfrm>
            <a:off x="586872" y="529856"/>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OBJECTIVE</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 xmlns:a16="http://schemas.microsoft.com/office/drawing/2014/main" id="{B9F7B9C0-B6C4-3A08-14DD-83FF1FD95A03}"/>
              </a:ext>
            </a:extLst>
          </p:cNvPr>
          <p:cNvSpPr txBox="1">
            <a:spLocks/>
          </p:cNvSpPr>
          <p:nvPr/>
        </p:nvSpPr>
        <p:spPr>
          <a:xfrm>
            <a:off x="769374" y="1428054"/>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pPr>
            <a:endParaRPr lang="en-IN" dirty="0">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586872" y="1505713"/>
            <a:ext cx="11135437"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Develop an intelligent </a:t>
            </a:r>
            <a:r>
              <a:rPr kumimoji="0" lang="en-US" altLang="en-US" sz="1800" b="1" i="0" u="none" strike="noStrike" cap="none" normalizeH="0" baseline="0" dirty="0" smtClean="0">
                <a:ln>
                  <a:noFill/>
                </a:ln>
                <a:solidFill>
                  <a:schemeClr val="tx1"/>
                </a:solidFill>
                <a:effectLst/>
                <a:latin typeface="Arial" panose="020B0604020202020204" pitchFamily="34" charset="0"/>
              </a:rPr>
              <a:t>AI-powered fabric defect detection system</a:t>
            </a:r>
            <a:r>
              <a:rPr kumimoji="0" lang="en-US" altLang="en-US" sz="1800" b="0" i="0" u="none" strike="noStrike" cap="none" normalizeH="0" baseline="0" dirty="0" smtClean="0">
                <a:ln>
                  <a:noFill/>
                </a:ln>
                <a:solidFill>
                  <a:schemeClr val="tx1"/>
                </a:solidFill>
                <a:effectLst/>
                <a:latin typeface="Arial" panose="020B0604020202020204" pitchFamily="34" charset="0"/>
              </a:rPr>
              <a:t> that continuously monitors textile production using live camera feeds, image analysis, and real-time quality inspection.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Design and implement </a:t>
            </a:r>
            <a:r>
              <a:rPr kumimoji="0" lang="en-US" altLang="en-US" sz="1800" b="1" i="0" u="none" strike="noStrike" cap="none" normalizeH="0" baseline="0" dirty="0" smtClean="0">
                <a:ln>
                  <a:noFill/>
                </a:ln>
                <a:solidFill>
                  <a:schemeClr val="tx1"/>
                </a:solidFill>
                <a:effectLst/>
                <a:latin typeface="Arial" panose="020B0604020202020204" pitchFamily="34" charset="0"/>
              </a:rPr>
              <a:t>deep learning-based defect detection</a:t>
            </a:r>
            <a:r>
              <a:rPr kumimoji="0" lang="en-US" altLang="en-US" sz="1800" b="0" i="0" u="none" strike="noStrike" cap="none" normalizeH="0" baseline="0" dirty="0" smtClean="0">
                <a:ln>
                  <a:noFill/>
                </a:ln>
                <a:solidFill>
                  <a:schemeClr val="tx1"/>
                </a:solidFill>
                <a:effectLst/>
                <a:latin typeface="Arial" panose="020B0604020202020204" pitchFamily="34" charset="0"/>
              </a:rPr>
              <a:t> using </a:t>
            </a:r>
            <a:r>
              <a:rPr kumimoji="0" lang="en-US" altLang="en-US" sz="1800" b="1" i="0" u="none" strike="noStrike" cap="none" normalizeH="0" baseline="0" dirty="0" smtClean="0">
                <a:ln>
                  <a:noFill/>
                </a:ln>
                <a:solidFill>
                  <a:schemeClr val="tx1"/>
                </a:solidFill>
                <a:effectLst/>
                <a:latin typeface="Arial" panose="020B0604020202020204" pitchFamily="34" charset="0"/>
              </a:rPr>
              <a:t>YOLO models</a:t>
            </a:r>
            <a:r>
              <a:rPr kumimoji="0" lang="en-US" altLang="en-US" sz="1800" b="0" i="0" u="none" strike="noStrike" cap="none" normalizeH="0" baseline="0" dirty="0" smtClean="0">
                <a:ln>
                  <a:noFill/>
                </a:ln>
                <a:solidFill>
                  <a:schemeClr val="tx1"/>
                </a:solidFill>
                <a:effectLst/>
                <a:latin typeface="Arial" panose="020B0604020202020204" pitchFamily="34" charset="0"/>
              </a:rPr>
              <a:t> to accurately identify fabric defects, classify defect types, and evaluate quality with high precision.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Enable an integrated inspection workflow that automatically detects defects, generates inspection reports, stores defect history, and supports quality control decisions to improve production efficiency.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Replace traditional </a:t>
            </a:r>
            <a:r>
              <a:rPr kumimoji="0" lang="en-US" altLang="en-US" sz="1800" b="1" i="0" u="none" strike="noStrike" cap="none" normalizeH="0" baseline="0" dirty="0" smtClean="0">
                <a:ln>
                  <a:noFill/>
                </a:ln>
                <a:solidFill>
                  <a:schemeClr val="tx1"/>
                </a:solidFill>
                <a:effectLst/>
                <a:latin typeface="Arial" panose="020B0604020202020204" pitchFamily="34" charset="0"/>
              </a:rPr>
              <a:t>manual fabric inspection</a:t>
            </a:r>
            <a:r>
              <a:rPr kumimoji="0" lang="en-US" altLang="en-US" sz="1800" b="0" i="0" u="none" strike="noStrike" cap="none" normalizeH="0" baseline="0" dirty="0" smtClean="0">
                <a:ln>
                  <a:noFill/>
                </a:ln>
                <a:solidFill>
                  <a:schemeClr val="tx1"/>
                </a:solidFill>
                <a:effectLst/>
                <a:latin typeface="Arial" panose="020B0604020202020204" pitchFamily="34" charset="0"/>
              </a:rPr>
              <a:t> with an automated, AI-driven quality inspection platform that increases accuracy, reduces inspection time, minimizes human error, and enhances overall manufacturing productivity. </a:t>
            </a:r>
          </a:p>
        </p:txBody>
      </p:sp>
    </p:spTree>
    <p:extLst>
      <p:ext uri="{BB962C8B-B14F-4D97-AF65-F5344CB8AC3E}">
        <p14:creationId xmlns:p14="http://schemas.microsoft.com/office/powerpoint/2010/main" val="2939923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D0EB67F8-89AD-C700-6D2B-436432D3A371}"/>
              </a:ext>
            </a:extLst>
          </p:cNvPr>
          <p:cNvSpPr txBox="1">
            <a:spLocks/>
          </p:cNvSpPr>
          <p:nvPr/>
        </p:nvSpPr>
        <p:spPr>
          <a:xfrm>
            <a:off x="769374" y="66497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PROBLEM STATEMENT</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 xmlns:a16="http://schemas.microsoft.com/office/drawing/2014/main" id="{B9F7B9C0-B6C4-3A08-14DD-83FF1FD95A03}"/>
              </a:ext>
            </a:extLst>
          </p:cNvPr>
          <p:cNvSpPr txBox="1">
            <a:spLocks/>
          </p:cNvSpPr>
          <p:nvPr/>
        </p:nvSpPr>
        <p:spPr>
          <a:xfrm>
            <a:off x="769374" y="1428054"/>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pPr>
            <a:endParaRPr lang="en-IN" dirty="0">
              <a:latin typeface="Times New Roman" panose="02020603050405020304" pitchFamily="18" charset="0"/>
              <a:cs typeface="Times New Roman" panose="02020603050405020304" pitchFamily="18" charset="0"/>
            </a:endParaRPr>
          </a:p>
        </p:txBody>
      </p:sp>
      <p:sp>
        <p:nvSpPr>
          <p:cNvPr id="2" name="Rectangle 1"/>
          <p:cNvSpPr/>
          <p:nvPr/>
        </p:nvSpPr>
        <p:spPr>
          <a:xfrm>
            <a:off x="359762" y="1990534"/>
            <a:ext cx="11572407" cy="424731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The textile manufacturing industry produces large volumes of fabric that require continuous quality inspection to detect defects such as holes, stains, misprints, broken yarns, and weaving faults. Traditional inspection methods rely heavily on manual visual examination, which is time-consuming, labor-intensive, and prone to human error. This often results in inconsistent quality assessment, delayed defect detection, increased production waste, and higher operational costs</a:t>
            </a:r>
            <a:r>
              <a:rPr lang="en-US" dirty="0" smtClean="0"/>
              <a:t>.</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t>Therefore, there is a need for an intelligent </a:t>
            </a:r>
            <a:r>
              <a:rPr lang="en-US" b="1" dirty="0"/>
              <a:t>AI-powered fabric inspection system</a:t>
            </a:r>
            <a:r>
              <a:rPr lang="en-US" dirty="0"/>
              <a:t> capable of performing </a:t>
            </a:r>
            <a:r>
              <a:rPr lang="en-US" b="1" dirty="0"/>
              <a:t>real-time defect detection, automated quality assessment, defect classification, report generation, and production analytics</a:t>
            </a:r>
            <a:r>
              <a:rPr lang="en-US" dirty="0"/>
              <a:t>. By leveraging advanced deep learning models and computer vision techniques, TexVision AI enables faster, more accurate, and consistent quality inspection, improving manufacturing efficiency and ensuring high-quality textile production.</a:t>
            </a:r>
          </a:p>
        </p:txBody>
      </p:sp>
    </p:spTree>
    <p:extLst>
      <p:ext uri="{BB962C8B-B14F-4D97-AF65-F5344CB8AC3E}">
        <p14:creationId xmlns:p14="http://schemas.microsoft.com/office/powerpoint/2010/main" val="4073723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D0EB67F8-89AD-C700-6D2B-436432D3A371}"/>
              </a:ext>
            </a:extLst>
          </p:cNvPr>
          <p:cNvSpPr txBox="1">
            <a:spLocks/>
          </p:cNvSpPr>
          <p:nvPr/>
        </p:nvSpPr>
        <p:spPr>
          <a:xfrm>
            <a:off x="769374" y="418500"/>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INTRODUCTION</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a:spLocks noChangeArrowheads="1"/>
          </p:cNvSpPr>
          <p:nvPr/>
        </p:nvSpPr>
        <p:spPr bwMode="auto">
          <a:xfrm>
            <a:off x="769374" y="1432174"/>
            <a:ext cx="10848003"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Modern textile industries produce large volumes of fabric that require continuous and accurate quality inspection to maintain production standards.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Traditional manual inspection methods are slow, labor-intensive, and prone to human errors, resulting in inconsistent quality and increased production waste.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TexVision AI</a:t>
            </a:r>
            <a:r>
              <a:rPr kumimoji="0" lang="en-US" altLang="en-US" sz="1800" b="0" i="0" u="none" strike="noStrike" cap="none" normalizeH="0" baseline="0" dirty="0" smtClean="0">
                <a:ln>
                  <a:noFill/>
                </a:ln>
                <a:solidFill>
                  <a:schemeClr val="tx1"/>
                </a:solidFill>
                <a:effectLst/>
                <a:latin typeface="Arial" panose="020B0604020202020204" pitchFamily="34" charset="0"/>
              </a:rPr>
              <a:t> uses </a:t>
            </a:r>
            <a:r>
              <a:rPr kumimoji="0" lang="en-US" altLang="en-US" sz="1800" b="1" i="0" u="none" strike="noStrike" cap="none" normalizeH="0" baseline="0" dirty="0" smtClean="0">
                <a:ln>
                  <a:noFill/>
                </a:ln>
                <a:solidFill>
                  <a:schemeClr val="tx1"/>
                </a:solidFill>
                <a:effectLst/>
                <a:latin typeface="Arial" panose="020B0604020202020204" pitchFamily="34" charset="0"/>
              </a:rPr>
              <a:t>YOLO-based deep learning and computer vision</a:t>
            </a:r>
            <a:r>
              <a:rPr kumimoji="0" lang="en-US" altLang="en-US" sz="1800" b="0" i="0" u="none" strike="noStrike" cap="none" normalizeH="0" baseline="0" dirty="0" smtClean="0">
                <a:ln>
                  <a:noFill/>
                </a:ln>
                <a:solidFill>
                  <a:schemeClr val="tx1"/>
                </a:solidFill>
                <a:effectLst/>
                <a:latin typeface="Arial" panose="020B0604020202020204" pitchFamily="34" charset="0"/>
              </a:rPr>
              <a:t> to detect, classify, and analyze fabric defects in real time from live camera feeds.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system provides automated quality inspection, report generation, and production analytics through a </a:t>
            </a:r>
            <a:r>
              <a:rPr kumimoji="0" lang="en-US" altLang="en-US" sz="1800" b="1" i="0" u="none" strike="noStrike" cap="none" normalizeH="0" baseline="0" dirty="0" smtClean="0">
                <a:ln>
                  <a:noFill/>
                </a:ln>
                <a:solidFill>
                  <a:schemeClr val="tx1"/>
                </a:solidFill>
                <a:effectLst/>
                <a:latin typeface="Arial" panose="020B0604020202020204" pitchFamily="34" charset="0"/>
              </a:rPr>
              <a:t>local-first AI architecture</a:t>
            </a:r>
            <a:r>
              <a:rPr kumimoji="0" lang="en-US" altLang="en-US" sz="1800" b="0" i="0" u="none" strike="noStrike" cap="none" normalizeH="0" baseline="0" dirty="0" smtClean="0">
                <a:ln>
                  <a:noFill/>
                </a:ln>
                <a:solidFill>
                  <a:schemeClr val="tx1"/>
                </a:solidFill>
                <a:effectLst/>
                <a:latin typeface="Arial" panose="020B0604020202020204" pitchFamily="34" charset="0"/>
              </a:rPr>
              <a:t>, improving inspection accuracy, reducing waste, and enhancing manufacturing efficiency. </a:t>
            </a:r>
          </a:p>
        </p:txBody>
      </p:sp>
    </p:spTree>
    <p:extLst>
      <p:ext uri="{BB962C8B-B14F-4D97-AF65-F5344CB8AC3E}">
        <p14:creationId xmlns:p14="http://schemas.microsoft.com/office/powerpoint/2010/main" val="81745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54860" y="563642"/>
            <a:ext cx="10515600" cy="108019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smtClean="0">
                <a:latin typeface="Times New Roman" panose="02020603050405020304" pitchFamily="18" charset="0"/>
                <a:cs typeface="Times New Roman" panose="02020603050405020304" pitchFamily="18" charset="0"/>
              </a:rPr>
              <a:t>LITRATURE REVIEW</a:t>
            </a:r>
          </a:p>
          <a:p>
            <a:pPr>
              <a:lnSpc>
                <a:spcPct val="170000"/>
              </a:lnSpc>
            </a:pPr>
            <a:r>
              <a:rPr lang="en-US" sz="3600" b="1" dirty="0" smtClean="0">
                <a:latin typeface="Times New Roman" panose="02020603050405020304" pitchFamily="18" charset="0"/>
                <a:cs typeface="Times New Roman" panose="02020603050405020304" pitchFamily="18" charset="0"/>
              </a:rPr>
              <a:t/>
            </a:r>
            <a:br>
              <a:rPr lang="en-US" sz="3600" b="1" dirty="0" smtClean="0">
                <a:latin typeface="Times New Roman" panose="02020603050405020304" pitchFamily="18" charset="0"/>
                <a:cs typeface="Times New Roman" panose="02020603050405020304" pitchFamily="18" charset="0"/>
              </a:rPr>
            </a:br>
            <a:r>
              <a:rPr lang="en-IN" sz="2400" dirty="0" smtClean="0"/>
              <a:t>.</a:t>
            </a:r>
            <a:endParaRPr lang="en-IN" sz="24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B9F7B9C0-B6C4-3A08-14DD-83FF1FD95A03}"/>
              </a:ext>
            </a:extLst>
          </p:cNvPr>
          <p:cNvSpPr txBox="1">
            <a:spLocks/>
          </p:cNvSpPr>
          <p:nvPr/>
        </p:nvSpPr>
        <p:spPr>
          <a:xfrm>
            <a:off x="444500" y="1398473"/>
            <a:ext cx="10515600" cy="49073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70000"/>
              </a:lnSpc>
            </a:pPr>
            <a:r>
              <a:rPr lang="en-US" sz="2000" b="1" dirty="0" err="1"/>
              <a:t>DeepLog</a:t>
            </a:r>
            <a:r>
              <a:rPr lang="en-US" sz="2000" b="1" dirty="0"/>
              <a:t>: Anomaly Detection and Diagnosis from System Logs using Deep </a:t>
            </a:r>
            <a:r>
              <a:rPr lang="en-US" sz="2000" b="1" dirty="0" smtClean="0"/>
              <a:t>Learning</a:t>
            </a:r>
          </a:p>
          <a:p>
            <a:pPr algn="l">
              <a:lnSpc>
                <a:spcPct val="100000"/>
              </a:lnSpc>
            </a:pPr>
            <a:r>
              <a:rPr lang="en-IN" sz="2000" dirty="0" smtClean="0"/>
              <a:t>                                                          </a:t>
            </a:r>
            <a:r>
              <a:rPr lang="en-IN" sz="1400" dirty="0" smtClean="0"/>
              <a:t>Min Du, </a:t>
            </a:r>
            <a:r>
              <a:rPr lang="en-IN" sz="1400" dirty="0" err="1" smtClean="0"/>
              <a:t>Feifei</a:t>
            </a:r>
            <a:r>
              <a:rPr lang="en-IN" sz="1400" dirty="0" smtClean="0"/>
              <a:t> Li, </a:t>
            </a:r>
            <a:r>
              <a:rPr lang="en-IN" sz="1400" dirty="0" err="1" smtClean="0"/>
              <a:t>Guineng</a:t>
            </a:r>
            <a:r>
              <a:rPr lang="en-IN" sz="1400" dirty="0" smtClean="0"/>
              <a:t> Zheng, </a:t>
            </a:r>
            <a:r>
              <a:rPr lang="en-IN" sz="1400" dirty="0" err="1" smtClean="0"/>
              <a:t>Vivek</a:t>
            </a:r>
            <a:r>
              <a:rPr lang="en-IN" sz="1400" dirty="0" smtClean="0"/>
              <a:t> </a:t>
            </a:r>
            <a:r>
              <a:rPr lang="en-IN" sz="1400" dirty="0" err="1" smtClean="0"/>
              <a:t>Srikumar</a:t>
            </a:r>
            <a:r>
              <a:rPr lang="en-IN" sz="1400" dirty="0" smtClean="0"/>
              <a:t> </a:t>
            </a:r>
          </a:p>
          <a:p>
            <a:pPr>
              <a:lnSpc>
                <a:spcPct val="100000"/>
              </a:lnSpc>
            </a:pPr>
            <a:r>
              <a:rPr lang="en-IN" sz="1400" dirty="0" smtClean="0"/>
              <a:t>S</a:t>
            </a:r>
            <a:r>
              <a:rPr lang="en-IN" sz="1100" dirty="0" smtClean="0"/>
              <a:t>chool of Computing, University of Utah</a:t>
            </a:r>
            <a:endParaRPr lang="en-US" sz="1100" b="1" dirty="0" smtClean="0">
              <a:latin typeface="Times New Roman" panose="02020603050405020304" pitchFamily="18" charset="0"/>
              <a:cs typeface="Times New Roman" panose="02020603050405020304" pitchFamily="18" charset="0"/>
            </a:endParaRPr>
          </a:p>
        </p:txBody>
      </p:sp>
      <p:sp>
        <p:nvSpPr>
          <p:cNvPr id="8" name="TextBox 7"/>
          <p:cNvSpPr txBox="1"/>
          <p:nvPr/>
        </p:nvSpPr>
        <p:spPr>
          <a:xfrm>
            <a:off x="1117658" y="3106057"/>
            <a:ext cx="9790003"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smtClean="0"/>
              <a:t>Anomaly detection is a critical step towards building a secure and trustworthy system.</a:t>
            </a:r>
          </a:p>
          <a:p>
            <a:pPr marL="285750" indent="-285750">
              <a:lnSpc>
                <a:spcPct val="150000"/>
              </a:lnSpc>
              <a:buFont typeface="Arial" panose="020B0604020202020204" pitchFamily="34" charset="0"/>
              <a:buChar char="•"/>
            </a:pPr>
            <a:r>
              <a:rPr lang="en-US" dirty="0" smtClean="0"/>
              <a:t>primary purpose of a system log is to record system states and Significant events at various critical points to help debug system failures and perform root cause analysis. </a:t>
            </a:r>
          </a:p>
          <a:p>
            <a:pPr marL="285750" indent="-285750">
              <a:lnSpc>
                <a:spcPct val="150000"/>
              </a:lnSpc>
              <a:buFont typeface="Arial" panose="020B0604020202020204" pitchFamily="34" charset="0"/>
              <a:buChar char="•"/>
            </a:pPr>
            <a:r>
              <a:rPr lang="en-US" dirty="0" smtClean="0"/>
              <a:t>Such log data is universally available in nearly all computer systems.</a:t>
            </a:r>
          </a:p>
          <a:p>
            <a:pPr marL="285750" indent="-285750">
              <a:lnSpc>
                <a:spcPct val="150000"/>
              </a:lnSpc>
              <a:buFont typeface="Arial" panose="020B0604020202020204" pitchFamily="34" charset="0"/>
              <a:buChar char="•"/>
            </a:pPr>
            <a:r>
              <a:rPr lang="en-US" dirty="0" smtClean="0"/>
              <a:t> Log data is an important and valuable resource for understanding system status and performance issues</a:t>
            </a:r>
            <a:endParaRPr lang="en-IN" dirty="0"/>
          </a:p>
        </p:txBody>
      </p:sp>
    </p:spTree>
    <p:extLst>
      <p:ext uri="{BB962C8B-B14F-4D97-AF65-F5344CB8AC3E}">
        <p14:creationId xmlns:p14="http://schemas.microsoft.com/office/powerpoint/2010/main" val="3686845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54860" y="563642"/>
            <a:ext cx="10515600" cy="108019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smtClean="0">
                <a:latin typeface="Times New Roman" panose="02020603050405020304" pitchFamily="18" charset="0"/>
                <a:cs typeface="Times New Roman" panose="02020603050405020304" pitchFamily="18" charset="0"/>
              </a:rPr>
              <a:t>LITRATURE REVIEW</a:t>
            </a:r>
          </a:p>
          <a:p>
            <a:pPr>
              <a:lnSpc>
                <a:spcPct val="170000"/>
              </a:lnSpc>
            </a:pPr>
            <a:r>
              <a:rPr lang="en-US" sz="3600" b="1" dirty="0" smtClean="0">
                <a:latin typeface="Times New Roman" panose="02020603050405020304" pitchFamily="18" charset="0"/>
                <a:cs typeface="Times New Roman" panose="02020603050405020304" pitchFamily="18" charset="0"/>
              </a:rPr>
              <a:t/>
            </a:r>
            <a:br>
              <a:rPr lang="en-US" sz="3600" b="1" dirty="0" smtClean="0">
                <a:latin typeface="Times New Roman" panose="02020603050405020304" pitchFamily="18" charset="0"/>
                <a:cs typeface="Times New Roman" panose="02020603050405020304" pitchFamily="18" charset="0"/>
              </a:rPr>
            </a:br>
            <a:r>
              <a:rPr lang="en-IN" sz="2400" dirty="0" smtClean="0"/>
              <a:t>.</a:t>
            </a:r>
            <a:endParaRPr lang="en-IN" sz="24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B9F7B9C0-B6C4-3A08-14DD-83FF1FD95A03}"/>
              </a:ext>
            </a:extLst>
          </p:cNvPr>
          <p:cNvSpPr txBox="1">
            <a:spLocks/>
          </p:cNvSpPr>
          <p:nvPr/>
        </p:nvSpPr>
        <p:spPr>
          <a:xfrm>
            <a:off x="444500" y="1398472"/>
            <a:ext cx="11252200" cy="11161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8877300" indent="-7981950">
              <a:lnSpc>
                <a:spcPct val="170000"/>
              </a:lnSpc>
            </a:pPr>
            <a:r>
              <a:rPr lang="en-US" sz="2000" b="1" dirty="0" smtClean="0"/>
              <a:t>YOLOv8</a:t>
            </a:r>
            <a:r>
              <a:rPr lang="en-US" sz="2000" b="1" dirty="0"/>
              <a:t>: Real-Time Object Detection for Industrial Vision Applications</a:t>
            </a:r>
            <a:endParaRPr lang="en-IN" sz="2000" b="1" dirty="0" smtClean="0"/>
          </a:p>
          <a:p>
            <a:pPr marL="8877300" indent="-7981950">
              <a:lnSpc>
                <a:spcPct val="170000"/>
              </a:lnSpc>
            </a:pPr>
            <a:r>
              <a:rPr lang="en-IN" sz="1400" dirty="0" err="1"/>
              <a:t>Ultralytics</a:t>
            </a:r>
            <a:r>
              <a:rPr lang="en-IN" sz="1400" dirty="0"/>
              <a:t> Research </a:t>
            </a:r>
            <a:r>
              <a:rPr lang="en-IN" sz="1400" dirty="0" smtClean="0"/>
              <a:t>Team · Lionel Briand1</a:t>
            </a:r>
            <a:endParaRPr lang="en-US" sz="1400" b="1" dirty="0" smtClean="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609658" y="2694321"/>
            <a:ext cx="10553642"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YOLOv8 is a state-of-the-art object detection model designed for high-speed and accurate real-time detection.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provides excellent performance in detecting multiple object classes with low latency.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model is widely adopted in industrial automation, manufacturing, and quality inspection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Its accuracy and inference speed make it highly suitable for automated fabric defect detection in TexVision AI. </a:t>
            </a:r>
          </a:p>
        </p:txBody>
      </p:sp>
    </p:spTree>
    <p:extLst>
      <p:ext uri="{BB962C8B-B14F-4D97-AF65-F5344CB8AC3E}">
        <p14:creationId xmlns:p14="http://schemas.microsoft.com/office/powerpoint/2010/main" val="3154483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54860" y="563642"/>
            <a:ext cx="10515600" cy="108019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smtClean="0">
                <a:latin typeface="Times New Roman" panose="02020603050405020304" pitchFamily="18" charset="0"/>
                <a:cs typeface="Times New Roman" panose="02020603050405020304" pitchFamily="18" charset="0"/>
              </a:rPr>
              <a:t>LITRATURE REVIEW</a:t>
            </a:r>
          </a:p>
          <a:p>
            <a:pPr>
              <a:lnSpc>
                <a:spcPct val="170000"/>
              </a:lnSpc>
            </a:pPr>
            <a:r>
              <a:rPr lang="en-US" sz="3600" b="1" dirty="0" smtClean="0">
                <a:latin typeface="Times New Roman" panose="02020603050405020304" pitchFamily="18" charset="0"/>
                <a:cs typeface="Times New Roman" panose="02020603050405020304" pitchFamily="18" charset="0"/>
              </a:rPr>
              <a:t/>
            </a:r>
            <a:br>
              <a:rPr lang="en-US" sz="3600" b="1" dirty="0" smtClean="0">
                <a:latin typeface="Times New Roman" panose="02020603050405020304" pitchFamily="18" charset="0"/>
                <a:cs typeface="Times New Roman" panose="02020603050405020304" pitchFamily="18" charset="0"/>
              </a:rPr>
            </a:br>
            <a:r>
              <a:rPr lang="en-IN" sz="2400" dirty="0" smtClean="0"/>
              <a:t>.</a:t>
            </a:r>
            <a:endParaRPr lang="en-IN" sz="24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B9F7B9C0-B6C4-3A08-14DD-83FF1FD95A03}"/>
              </a:ext>
            </a:extLst>
          </p:cNvPr>
          <p:cNvSpPr txBox="1">
            <a:spLocks/>
          </p:cNvSpPr>
          <p:nvPr/>
        </p:nvSpPr>
        <p:spPr>
          <a:xfrm>
            <a:off x="-469900" y="1160079"/>
            <a:ext cx="11614150" cy="49073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8077200" indent="-5829300" algn="l">
              <a:lnSpc>
                <a:spcPct val="170000"/>
              </a:lnSpc>
            </a:pPr>
            <a:r>
              <a:rPr lang="en-US" sz="2000" dirty="0"/>
              <a:t>Automated Fabric Defect Detection Using Deep Learning and Computer </a:t>
            </a:r>
            <a:r>
              <a:rPr lang="en-US" sz="2000" dirty="0" smtClean="0"/>
              <a:t>Vision</a:t>
            </a:r>
          </a:p>
          <a:p>
            <a:pPr marL="8077200" indent="-5829300" algn="l">
              <a:lnSpc>
                <a:spcPct val="170000"/>
              </a:lnSpc>
            </a:pPr>
            <a:r>
              <a:rPr lang="en-IN" sz="1200" dirty="0" smtClean="0"/>
              <a:t>                                             Miguel De la Cruz Cabello a , Tiago Prince Sales b , Marcos R. Machado </a:t>
            </a:r>
          </a:p>
          <a:p>
            <a:pPr marL="8077200" indent="-8077200">
              <a:lnSpc>
                <a:spcPct val="100000"/>
              </a:lnSpc>
            </a:pPr>
            <a:r>
              <a:rPr lang="en-IN" sz="1200" dirty="0" smtClean="0"/>
              <a:t>                                 a Department of Industrial Engineering and Business Information Systems, University of </a:t>
            </a:r>
            <a:r>
              <a:rPr lang="en-IN" sz="1200" dirty="0" err="1" smtClean="0"/>
              <a:t>Twente</a:t>
            </a:r>
            <a:endParaRPr lang="en-US" sz="1200" b="1" dirty="0" smtClean="0">
              <a:latin typeface="Times New Roman" panose="02020603050405020304" pitchFamily="18" charset="0"/>
              <a:cs typeface="Times New Roman" panose="02020603050405020304" pitchFamily="18" charset="0"/>
            </a:endParaRPr>
          </a:p>
        </p:txBody>
      </p:sp>
      <p:sp>
        <p:nvSpPr>
          <p:cNvPr id="2" name="TextBox 1"/>
          <p:cNvSpPr txBox="1"/>
          <p:nvPr/>
        </p:nvSpPr>
        <p:spPr>
          <a:xfrm>
            <a:off x="599842" y="2857500"/>
            <a:ext cx="10825635" cy="254236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t>Deep learning and computer vision techniques have significantly improved automated fabric inspection. </a:t>
            </a:r>
          </a:p>
          <a:p>
            <a:pPr marL="285750" indent="-285750" algn="just">
              <a:lnSpc>
                <a:spcPct val="150000"/>
              </a:lnSpc>
              <a:buFont typeface="Arial" panose="020B0604020202020204" pitchFamily="34" charset="0"/>
              <a:buChar char="•"/>
            </a:pPr>
            <a:r>
              <a:rPr lang="en-US" dirty="0"/>
              <a:t>Convolutional Neural Networks (CNNs) and YOLO models accurately identify defects such as holes, stains, and weaving faults. </a:t>
            </a:r>
          </a:p>
          <a:p>
            <a:pPr marL="285750" indent="-285750" algn="just">
              <a:lnSpc>
                <a:spcPct val="150000"/>
              </a:lnSpc>
              <a:buFont typeface="Arial" panose="020B0604020202020204" pitchFamily="34" charset="0"/>
              <a:buChar char="•"/>
            </a:pPr>
            <a:r>
              <a:rPr lang="en-US" dirty="0"/>
              <a:t>Automated inspection reduces human error while improving production speed and quality consistency. </a:t>
            </a:r>
          </a:p>
          <a:p>
            <a:pPr marL="285750" indent="-285750" algn="just">
              <a:lnSpc>
                <a:spcPct val="150000"/>
              </a:lnSpc>
              <a:buFont typeface="Arial" panose="020B0604020202020204" pitchFamily="34" charset="0"/>
              <a:buChar char="•"/>
            </a:pPr>
            <a:r>
              <a:rPr lang="en-US" dirty="0"/>
              <a:t>The study concludes that AI-based inspection systems provide higher accuracy and efficiency than traditional manual inspection methods. </a:t>
            </a:r>
          </a:p>
        </p:txBody>
      </p:sp>
    </p:spTree>
    <p:extLst>
      <p:ext uri="{BB962C8B-B14F-4D97-AF65-F5344CB8AC3E}">
        <p14:creationId xmlns:p14="http://schemas.microsoft.com/office/powerpoint/2010/main" val="3464594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92640" y="414306"/>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EXISTING SYSTEM</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11" name="Rectangle 4"/>
          <p:cNvSpPr>
            <a:spLocks noChangeArrowheads="1"/>
          </p:cNvSpPr>
          <p:nvPr/>
        </p:nvSpPr>
        <p:spPr bwMode="auto">
          <a:xfrm>
            <a:off x="309238" y="1739869"/>
            <a:ext cx="824827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Examples of Existing Systems: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1168400" marR="0" lvl="0" indent="-546100" algn="l" defTabSz="914400" rtl="0" eaLnBrk="0" fontAlgn="base" latinLnBrk="0" hangingPunct="0">
              <a:lnSpc>
                <a:spcPct val="100000"/>
              </a:lnSpc>
              <a:spcBef>
                <a:spcPct val="0"/>
              </a:spcBef>
              <a:spcAft>
                <a:spcPct val="0"/>
              </a:spcAft>
              <a:buClrTx/>
              <a:buSzTx/>
              <a:buFontTx/>
              <a:buNone/>
              <a:tabLst>
                <a:tab pos="355600" algn="l"/>
                <a:tab pos="444500" algn="l"/>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92640" y="2373469"/>
            <a:ext cx="1091676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Manual Fabric Inspection</a:t>
            </a:r>
            <a:r>
              <a:rPr kumimoji="0" lang="en-US" altLang="en-US" sz="1800" b="0" i="0" u="none" strike="noStrike" cap="none" normalizeH="0" baseline="0" dirty="0" smtClean="0">
                <a:ln>
                  <a:noFill/>
                </a:ln>
                <a:solidFill>
                  <a:schemeClr val="tx1"/>
                </a:solidFill>
                <a:effectLst/>
                <a:latin typeface="Arial" panose="020B0604020202020204" pitchFamily="34" charset="0"/>
              </a:rPr>
              <a:t> – Traditional visual inspection performed by human operators to identify defects during textile production.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Automated Optical Inspection (AOI)</a:t>
            </a:r>
            <a:r>
              <a:rPr kumimoji="0" lang="en-US" altLang="en-US" sz="1800" b="0" i="0" u="none" strike="noStrike" cap="none" normalizeH="0" baseline="0" dirty="0" smtClean="0">
                <a:ln>
                  <a:noFill/>
                </a:ln>
                <a:solidFill>
                  <a:schemeClr val="tx1"/>
                </a:solidFill>
                <a:effectLst/>
                <a:latin typeface="Arial" panose="020B0604020202020204" pitchFamily="34" charset="0"/>
              </a:rPr>
              <a:t> – Camera-based inspection systems that use predefined image processing techniques to detect basic fabric defects.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Conventional Machine Vision Systems</a:t>
            </a:r>
            <a:r>
              <a:rPr kumimoji="0" lang="en-US" altLang="en-US" sz="1800" b="0" i="0" u="none" strike="noStrike" cap="none" normalizeH="0" baseline="0" dirty="0" smtClean="0">
                <a:ln>
                  <a:noFill/>
                </a:ln>
                <a:solidFill>
                  <a:schemeClr val="tx1"/>
                </a:solidFill>
                <a:effectLst/>
                <a:latin typeface="Arial" panose="020B0604020202020204" pitchFamily="34" charset="0"/>
              </a:rPr>
              <a:t> – Rule-based image processing solutions that detect defects using fixed algorithms, offering limited adaptability to different fabric types.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Cloud-Based Quality Inspection Platforms</a:t>
            </a:r>
            <a:r>
              <a:rPr kumimoji="0" lang="en-US" altLang="en-US" sz="1800" b="0" i="0" u="none" strike="noStrike" cap="none" normalizeH="0" baseline="0" dirty="0" smtClean="0">
                <a:ln>
                  <a:noFill/>
                </a:ln>
                <a:solidFill>
                  <a:schemeClr val="tx1"/>
                </a:solidFill>
                <a:effectLst/>
                <a:latin typeface="Arial" panose="020B0604020202020204" pitchFamily="34" charset="0"/>
              </a:rPr>
              <a:t> – AI-enabled inspection systems that require cloud connectivity for image processing, model inference, and quality analytics, resulting in higher latency and dependency on internet availability. </a:t>
            </a:r>
          </a:p>
        </p:txBody>
      </p:sp>
    </p:spTree>
    <p:extLst>
      <p:ext uri="{BB962C8B-B14F-4D97-AF65-F5344CB8AC3E}">
        <p14:creationId xmlns:p14="http://schemas.microsoft.com/office/powerpoint/2010/main" val="3888592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02699" y="489257"/>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PROPOSED SYSTEM</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609601" y="1839783"/>
            <a:ext cx="10490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TexVision AI</a:t>
            </a:r>
            <a:r>
              <a:rPr kumimoji="0" lang="en-US" altLang="en-US" sz="1800" b="0" i="0" u="none" strike="noStrike" cap="none" normalizeH="0" baseline="0" dirty="0" smtClean="0">
                <a:ln>
                  <a:noFill/>
                </a:ln>
                <a:solidFill>
                  <a:schemeClr val="tx1"/>
                </a:solidFill>
                <a:effectLst/>
                <a:latin typeface="Arial" panose="020B0604020202020204" pitchFamily="34" charset="0"/>
              </a:rPr>
              <a:t> is an intelligent </a:t>
            </a:r>
            <a:r>
              <a:rPr kumimoji="0" lang="en-US" altLang="en-US" sz="1800" b="1" i="0" u="none" strike="noStrike" cap="none" normalizeH="0" baseline="0" dirty="0" smtClean="0">
                <a:ln>
                  <a:noFill/>
                </a:ln>
                <a:solidFill>
                  <a:schemeClr val="tx1"/>
                </a:solidFill>
                <a:effectLst/>
                <a:latin typeface="Arial" panose="020B0604020202020204" pitchFamily="34" charset="0"/>
              </a:rPr>
              <a:t>AI-powered fabric defect detection and quality inspection system</a:t>
            </a:r>
            <a:r>
              <a:rPr kumimoji="0" lang="en-US" altLang="en-US" sz="1800" b="0" i="0" u="none" strike="noStrike" cap="none" normalizeH="0" baseline="0" dirty="0" smtClean="0">
                <a:ln>
                  <a:noFill/>
                </a:ln>
                <a:solidFill>
                  <a:schemeClr val="tx1"/>
                </a:solidFill>
                <a:effectLst/>
                <a:latin typeface="Arial" panose="020B0604020202020204" pitchFamily="34" charset="0"/>
              </a:rPr>
              <a:t> designed to improve textile product quality and manufacturing efficiency. </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dirty="0">
                <a:latin typeface="Arial" panose="020B0604020202020204" pitchFamily="34" charset="0"/>
              </a:rPr>
              <a:t>I</a:t>
            </a:r>
            <a:r>
              <a:rPr kumimoji="0" lang="en-US" altLang="en-US" sz="1800" b="0" i="0" u="none" strike="noStrike" cap="none" normalizeH="0" baseline="0" dirty="0" smtClean="0">
                <a:ln>
                  <a:noFill/>
                </a:ln>
                <a:solidFill>
                  <a:schemeClr val="tx1"/>
                </a:solidFill>
                <a:effectLst/>
                <a:latin typeface="Arial" panose="020B0604020202020204" pitchFamily="34" charset="0"/>
              </a:rPr>
              <a:t>t continuously captures and analyzes </a:t>
            </a:r>
            <a:r>
              <a:rPr kumimoji="0" lang="en-US" altLang="en-US" sz="1800" b="1" i="0" u="none" strike="noStrike" cap="none" normalizeH="0" baseline="0" dirty="0" smtClean="0">
                <a:ln>
                  <a:noFill/>
                </a:ln>
                <a:solidFill>
                  <a:schemeClr val="tx1"/>
                </a:solidFill>
                <a:effectLst/>
                <a:latin typeface="Arial" panose="020B0604020202020204" pitchFamily="34" charset="0"/>
              </a:rPr>
              <a:t>live camera feeds and fabric images</a:t>
            </a:r>
            <a:r>
              <a:rPr kumimoji="0" lang="en-US" altLang="en-US" sz="1800" b="0" i="0" u="none" strike="noStrike" cap="none" normalizeH="0" baseline="0" dirty="0" smtClean="0">
                <a:ln>
                  <a:noFill/>
                </a:ln>
                <a:solidFill>
                  <a:schemeClr val="tx1"/>
                </a:solidFill>
                <a:effectLst/>
                <a:latin typeface="Arial" panose="020B0604020202020204" pitchFamily="34" charset="0"/>
              </a:rPr>
              <a:t> to detect defects such as holes, stains, weaving faults, broken yarns, and misprints in real time.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system uses </a:t>
            </a:r>
            <a:r>
              <a:rPr kumimoji="0" lang="en-US" altLang="en-US" sz="1800" b="1" i="0" u="none" strike="noStrike" cap="none" normalizeH="0" baseline="0" dirty="0" smtClean="0">
                <a:ln>
                  <a:noFill/>
                </a:ln>
                <a:solidFill>
                  <a:schemeClr val="tx1"/>
                </a:solidFill>
                <a:effectLst/>
                <a:latin typeface="Arial" panose="020B0604020202020204" pitchFamily="34" charset="0"/>
              </a:rPr>
              <a:t>YOLO-based deep learning models</a:t>
            </a:r>
            <a:r>
              <a:rPr kumimoji="0" lang="en-US" altLang="en-US" sz="1800" b="0" i="0" u="none" strike="noStrike" cap="none" normalizeH="0" baseline="0" dirty="0" smtClean="0">
                <a:ln>
                  <a:noFill/>
                </a:ln>
                <a:solidFill>
                  <a:schemeClr val="tx1"/>
                </a:solidFill>
                <a:effectLst/>
                <a:latin typeface="Arial" panose="020B0604020202020204" pitchFamily="34" charset="0"/>
              </a:rPr>
              <a:t> and computer vision techniques to accurately identify, classify, and evaluate fabric defects with high speed and precision.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integrates a </a:t>
            </a:r>
            <a:r>
              <a:rPr kumimoji="0" lang="en-US" altLang="en-US" sz="1800" b="1" i="0" u="none" strike="noStrike" cap="none" normalizeH="0" baseline="0" dirty="0" smtClean="0">
                <a:ln>
                  <a:noFill/>
                </a:ln>
                <a:solidFill>
                  <a:schemeClr val="tx1"/>
                </a:solidFill>
                <a:effectLst/>
                <a:latin typeface="Arial" panose="020B0604020202020204" pitchFamily="34" charset="0"/>
              </a:rPr>
              <a:t>local-first enterprise architecture</a:t>
            </a:r>
            <a:r>
              <a:rPr kumimoji="0" lang="en-US" altLang="en-US" sz="1800" b="0" i="0" u="none" strike="noStrike" cap="none" normalizeH="0" baseline="0" dirty="0" smtClean="0">
                <a:ln>
                  <a:noFill/>
                </a:ln>
                <a:solidFill>
                  <a:schemeClr val="tx1"/>
                </a:solidFill>
                <a:effectLst/>
                <a:latin typeface="Arial" panose="020B0604020202020204" pitchFamily="34" charset="0"/>
              </a:rPr>
              <a:t> featuring the </a:t>
            </a:r>
            <a:r>
              <a:rPr kumimoji="0" lang="en-US" altLang="en-US" sz="1800" b="1" i="0" u="none" strike="noStrike" cap="none" normalizeH="0" baseline="0" dirty="0" smtClean="0">
                <a:ln>
                  <a:noFill/>
                </a:ln>
                <a:solidFill>
                  <a:schemeClr val="tx1"/>
                </a:solidFill>
                <a:effectLst/>
                <a:latin typeface="Arial" panose="020B0604020202020204" pitchFamily="34" charset="0"/>
              </a:rPr>
              <a:t>AI Service Manager, Dataset Manager, Model Manager, Camera Manager, and automated report generation</a:t>
            </a:r>
            <a:r>
              <a:rPr kumimoji="0" lang="en-US" altLang="en-US" sz="1800" b="0" i="0" u="none" strike="noStrike" cap="none" normalizeH="0" baseline="0" dirty="0" smtClean="0">
                <a:ln>
                  <a:noFill/>
                </a:ln>
                <a:solidFill>
                  <a:schemeClr val="tx1"/>
                </a:solidFill>
                <a:effectLst/>
                <a:latin typeface="Arial" panose="020B0604020202020204" pitchFamily="34" charset="0"/>
              </a:rPr>
              <a:t>, providing real-time quality analytics, inspection history, and efficient model management without depending on cloud services. </a:t>
            </a:r>
          </a:p>
        </p:txBody>
      </p:sp>
    </p:spTree>
    <p:extLst>
      <p:ext uri="{BB962C8B-B14F-4D97-AF65-F5344CB8AC3E}">
        <p14:creationId xmlns:p14="http://schemas.microsoft.com/office/powerpoint/2010/main" val="2881372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23900" y="48160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DISADVANTAGE OF EXISTING SYSTEM</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723900" y="1671489"/>
            <a:ext cx="10947400" cy="3642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Traditional </a:t>
            </a:r>
            <a:r>
              <a:rPr kumimoji="0" lang="en-US" altLang="en-US" sz="1800" b="1" i="0" u="none" strike="noStrike" cap="none" normalizeH="0" baseline="0" dirty="0" smtClean="0">
                <a:ln>
                  <a:noFill/>
                </a:ln>
                <a:solidFill>
                  <a:schemeClr val="tx1"/>
                </a:solidFill>
                <a:effectLst/>
                <a:latin typeface="Arial" panose="020B0604020202020204" pitchFamily="34" charset="0"/>
              </a:rPr>
              <a:t>manual fabric inspection</a:t>
            </a:r>
            <a:r>
              <a:rPr kumimoji="0" lang="en-US" altLang="en-US" sz="1800" b="0" i="0" u="none" strike="noStrike" cap="none" normalizeH="0" baseline="0" dirty="0" smtClean="0">
                <a:ln>
                  <a:noFill/>
                </a:ln>
                <a:solidFill>
                  <a:schemeClr val="tx1"/>
                </a:solidFill>
                <a:effectLst/>
                <a:latin typeface="Arial" panose="020B0604020202020204" pitchFamily="34" charset="0"/>
              </a:rPr>
              <a:t> is time-consuming, labor-intensive, and highly dependent on the operator's experience, leading to inconsistent results.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Conventional machine vision systems rely on </a:t>
            </a:r>
            <a:r>
              <a:rPr kumimoji="0" lang="en-US" altLang="en-US" sz="1800" b="1" i="0" u="none" strike="noStrike" cap="none" normalizeH="0" baseline="0" dirty="0" smtClean="0">
                <a:ln>
                  <a:noFill/>
                </a:ln>
                <a:solidFill>
                  <a:schemeClr val="tx1"/>
                </a:solidFill>
                <a:effectLst/>
                <a:latin typeface="Arial" panose="020B0604020202020204" pitchFamily="34" charset="0"/>
              </a:rPr>
              <a:t>fixed rules and image processing techniques</a:t>
            </a:r>
            <a:r>
              <a:rPr kumimoji="0" lang="en-US" altLang="en-US" sz="1800" b="0" i="0" u="none" strike="noStrike" cap="none" normalizeH="0" baseline="0" dirty="0" smtClean="0">
                <a:ln>
                  <a:noFill/>
                </a:ln>
                <a:solidFill>
                  <a:schemeClr val="tx1"/>
                </a:solidFill>
                <a:effectLst/>
                <a:latin typeface="Arial" panose="020B0604020202020204" pitchFamily="34" charset="0"/>
              </a:rPr>
              <a:t>, making them less effective in detecting complex or varying fabric defects.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Most existing systems lack </a:t>
            </a:r>
            <a:r>
              <a:rPr kumimoji="0" lang="en-US" altLang="en-US" sz="1800" b="1" i="0" u="none" strike="noStrike" cap="none" normalizeH="0" baseline="0" dirty="0" smtClean="0">
                <a:ln>
                  <a:noFill/>
                </a:ln>
                <a:solidFill>
                  <a:schemeClr val="tx1"/>
                </a:solidFill>
                <a:effectLst/>
                <a:latin typeface="Arial" panose="020B0604020202020204" pitchFamily="34" charset="0"/>
              </a:rPr>
              <a:t>real-time AI-based defect classification and quality analysis</a:t>
            </a:r>
            <a:r>
              <a:rPr kumimoji="0" lang="en-US" altLang="en-US" sz="1800" b="0" i="0" u="none" strike="noStrike" cap="none" normalizeH="0" baseline="0" dirty="0" smtClean="0">
                <a:ln>
                  <a:noFill/>
                </a:ln>
                <a:solidFill>
                  <a:schemeClr val="tx1"/>
                </a:solidFill>
                <a:effectLst/>
                <a:latin typeface="Arial" panose="020B0604020202020204" pitchFamily="34" charset="0"/>
              </a:rPr>
              <a:t>, resulting in delayed detection and increased production waste.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Cloud-dependent inspection solutions require internet connectivity, introduce processing delays, and provide limited flexibility for secure local industrial deployments. </a:t>
            </a:r>
          </a:p>
        </p:txBody>
      </p:sp>
    </p:spTree>
    <p:extLst>
      <p:ext uri="{BB962C8B-B14F-4D97-AF65-F5344CB8AC3E}">
        <p14:creationId xmlns:p14="http://schemas.microsoft.com/office/powerpoint/2010/main" val="31506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23900" y="48160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ADVANTAGE OF PROPOSED SYSTEM</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723900" y="1417320"/>
            <a:ext cx="10515600" cy="3642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tab pos="1524000" algn="l"/>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Provides </a:t>
            </a:r>
            <a:r>
              <a:rPr kumimoji="0" lang="en-US" altLang="en-US" sz="1800" b="1" i="0" u="none" strike="noStrike" cap="none" normalizeH="0" baseline="0" dirty="0" smtClean="0">
                <a:ln>
                  <a:noFill/>
                </a:ln>
                <a:solidFill>
                  <a:schemeClr val="tx1"/>
                </a:solidFill>
                <a:effectLst/>
                <a:latin typeface="Arial" panose="020B0604020202020204" pitchFamily="34" charset="0"/>
              </a:rPr>
              <a:t>real-time AI-powered fabric defect detection</a:t>
            </a:r>
            <a:r>
              <a:rPr kumimoji="0" lang="en-US" altLang="en-US" sz="1800" b="0" i="0" u="none" strike="noStrike" cap="none" normalizeH="0" baseline="0" dirty="0" smtClean="0">
                <a:ln>
                  <a:noFill/>
                </a:ln>
                <a:solidFill>
                  <a:schemeClr val="tx1"/>
                </a:solidFill>
                <a:effectLst/>
                <a:latin typeface="Arial" panose="020B0604020202020204" pitchFamily="34" charset="0"/>
              </a:rPr>
              <a:t>, enabling faster and more accurate inspection than traditional manual methods. </a:t>
            </a:r>
          </a:p>
          <a:p>
            <a:pPr marL="0" marR="0" lvl="0" indent="0" algn="just" defTabSz="914400" rtl="0" eaLnBrk="0" fontAlgn="base" latinLnBrk="0" hangingPunct="0">
              <a:lnSpc>
                <a:spcPct val="150000"/>
              </a:lnSpc>
              <a:spcBef>
                <a:spcPct val="0"/>
              </a:spcBef>
              <a:spcAft>
                <a:spcPct val="0"/>
              </a:spcAft>
              <a:buClrTx/>
              <a:buSzTx/>
              <a:buFontTx/>
              <a:buChar char="•"/>
              <a:tabLst>
                <a:tab pos="1524000" algn="l"/>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Uses </a:t>
            </a:r>
            <a:r>
              <a:rPr kumimoji="0" lang="en-US" altLang="en-US" sz="1800" b="1" i="0" u="none" strike="noStrike" cap="none" normalizeH="0" baseline="0" dirty="0" smtClean="0">
                <a:ln>
                  <a:noFill/>
                </a:ln>
                <a:solidFill>
                  <a:schemeClr val="tx1"/>
                </a:solidFill>
                <a:effectLst/>
                <a:latin typeface="Arial" panose="020B0604020202020204" pitchFamily="34" charset="0"/>
              </a:rPr>
              <a:t>YOLO-based deep learning models</a:t>
            </a:r>
            <a:r>
              <a:rPr kumimoji="0" lang="en-US" altLang="en-US" sz="1800" b="0" i="0" u="none" strike="noStrike" cap="none" normalizeH="0" baseline="0" dirty="0" smtClean="0">
                <a:ln>
                  <a:noFill/>
                </a:ln>
                <a:solidFill>
                  <a:schemeClr val="tx1"/>
                </a:solidFill>
                <a:effectLst/>
                <a:latin typeface="Arial" panose="020B0604020202020204" pitchFamily="34" charset="0"/>
              </a:rPr>
              <a:t> to automatically detect and classify multiple fabric defects with high precision. </a:t>
            </a:r>
          </a:p>
          <a:p>
            <a:pPr marL="0" marR="0" lvl="0" indent="0" algn="just" defTabSz="914400" rtl="0" eaLnBrk="0" fontAlgn="base" latinLnBrk="0" hangingPunct="0">
              <a:lnSpc>
                <a:spcPct val="150000"/>
              </a:lnSpc>
              <a:spcBef>
                <a:spcPct val="0"/>
              </a:spcBef>
              <a:spcAft>
                <a:spcPct val="0"/>
              </a:spcAft>
              <a:buClrTx/>
              <a:buSzTx/>
              <a:buFontTx/>
              <a:buChar char="•"/>
              <a:tabLst>
                <a:tab pos="1524000" algn="l"/>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Offers </a:t>
            </a:r>
            <a:r>
              <a:rPr kumimoji="0" lang="en-US" altLang="en-US" sz="1800" b="1" i="0" u="none" strike="noStrike" cap="none" normalizeH="0" baseline="0" dirty="0" smtClean="0">
                <a:ln>
                  <a:noFill/>
                </a:ln>
                <a:solidFill>
                  <a:schemeClr val="tx1"/>
                </a:solidFill>
                <a:effectLst/>
                <a:latin typeface="Arial" panose="020B0604020202020204" pitchFamily="34" charset="0"/>
              </a:rPr>
              <a:t>automated quality assessment, inspection report generation, and production analytics</a:t>
            </a:r>
            <a:r>
              <a:rPr kumimoji="0" lang="en-US" altLang="en-US" sz="1800" b="0" i="0" u="none" strike="noStrike" cap="none" normalizeH="0" baseline="0" dirty="0" smtClean="0">
                <a:ln>
                  <a:noFill/>
                </a:ln>
                <a:solidFill>
                  <a:schemeClr val="tx1"/>
                </a:solidFill>
                <a:effectLst/>
                <a:latin typeface="Arial" panose="020B0604020202020204" pitchFamily="34" charset="0"/>
              </a:rPr>
              <a:t> through an intelligent local-first architecture. </a:t>
            </a:r>
          </a:p>
          <a:p>
            <a:pPr marL="0" marR="0" lvl="0" indent="0" algn="just" defTabSz="914400" rtl="0" eaLnBrk="0" fontAlgn="base" latinLnBrk="0" hangingPunct="0">
              <a:lnSpc>
                <a:spcPct val="150000"/>
              </a:lnSpc>
              <a:spcBef>
                <a:spcPct val="0"/>
              </a:spcBef>
              <a:spcAft>
                <a:spcPct val="0"/>
              </a:spcAft>
              <a:buClrTx/>
              <a:buSzTx/>
              <a:buFontTx/>
              <a:buChar char="•"/>
              <a:tabLst>
                <a:tab pos="1524000" algn="l"/>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Improves product quality, reduces human errors and material waste, while increasing manufacturing efficiency and overall productivity. </a:t>
            </a:r>
          </a:p>
        </p:txBody>
      </p:sp>
    </p:spTree>
    <p:extLst>
      <p:ext uri="{BB962C8B-B14F-4D97-AF65-F5344CB8AC3E}">
        <p14:creationId xmlns:p14="http://schemas.microsoft.com/office/powerpoint/2010/main" val="3227494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23900" y="48160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SYSTEM REQUREMENTS</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7" name="Rectangle 1"/>
          <p:cNvSpPr>
            <a:spLocks noChangeArrowheads="1"/>
          </p:cNvSpPr>
          <p:nvPr/>
        </p:nvSpPr>
        <p:spPr bwMode="auto">
          <a:xfrm>
            <a:off x="723899" y="2579885"/>
            <a:ext cx="10902043"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smtClean="0"/>
              <a:t>Hardware Requirements:</a:t>
            </a:r>
            <a:endParaRPr lang="en-IN" sz="2400" dirty="0" smtClean="0"/>
          </a:p>
          <a:p>
            <a:pPr marL="342900" indent="-342900">
              <a:lnSpc>
                <a:spcPct val="150000"/>
              </a:lnSpc>
              <a:buFont typeface="Arial" panose="020B0604020202020204" pitchFamily="34" charset="0"/>
              <a:buChar char="•"/>
            </a:pPr>
            <a:r>
              <a:rPr lang="en-IN" dirty="0" smtClean="0"/>
              <a:t>Processor: Intel i7 / </a:t>
            </a:r>
            <a:r>
              <a:rPr lang="en-IN" dirty="0" err="1" smtClean="0"/>
              <a:t>Ryzen</a:t>
            </a:r>
            <a:r>
              <a:rPr lang="en-IN" dirty="0" smtClean="0"/>
              <a:t> 7 or higher </a:t>
            </a:r>
          </a:p>
          <a:p>
            <a:pPr marL="342900" indent="-342900">
              <a:lnSpc>
                <a:spcPct val="150000"/>
              </a:lnSpc>
              <a:buFont typeface="Arial" panose="020B0604020202020204" pitchFamily="34" charset="0"/>
              <a:buChar char="•"/>
            </a:pPr>
            <a:r>
              <a:rPr lang="en-IN" dirty="0" smtClean="0"/>
              <a:t>RAM: Minimum 16 GB (32 GB recommended for AI models) </a:t>
            </a:r>
          </a:p>
          <a:p>
            <a:pPr marL="342900" indent="-342900">
              <a:lnSpc>
                <a:spcPct val="150000"/>
              </a:lnSpc>
              <a:buFont typeface="Arial" panose="020B0604020202020204" pitchFamily="34" charset="0"/>
              <a:buChar char="•"/>
            </a:pPr>
            <a:r>
              <a:rPr lang="en-IN" dirty="0" smtClean="0"/>
              <a:t>Storage: 512 GB SSD or higher </a:t>
            </a:r>
          </a:p>
          <a:p>
            <a:pPr marL="342900" indent="-342900">
              <a:lnSpc>
                <a:spcPct val="150000"/>
              </a:lnSpc>
              <a:buFont typeface="Arial" panose="020B0604020202020204" pitchFamily="34" charset="0"/>
              <a:buChar char="•"/>
            </a:pPr>
            <a:r>
              <a:rPr lang="en-IN" dirty="0" smtClean="0"/>
              <a:t>GPU (Optional but recommended): NVIDIA GPU for deep learning (CUDA support)</a:t>
            </a:r>
          </a:p>
          <a:p>
            <a:pPr marL="342900" indent="-342900">
              <a:lnSpc>
                <a:spcPct val="150000"/>
              </a:lnSpc>
              <a:buFont typeface="Arial" panose="020B0604020202020204" pitchFamily="34" charset="0"/>
              <a:buChar char="•"/>
            </a:pPr>
            <a:r>
              <a:rPr lang="en-US" b="1" dirty="0"/>
              <a:t>Camera:</a:t>
            </a:r>
            <a:r>
              <a:rPr lang="en-US" dirty="0"/>
              <a:t> USB, RTSP, or IP Camera for Real-Time Fabric Inspection</a:t>
            </a:r>
            <a:endParaRPr lang="en-IN" dirty="0"/>
          </a:p>
        </p:txBody>
      </p:sp>
    </p:spTree>
    <p:extLst>
      <p:ext uri="{BB962C8B-B14F-4D97-AF65-F5344CB8AC3E}">
        <p14:creationId xmlns:p14="http://schemas.microsoft.com/office/powerpoint/2010/main" val="560665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0EB67F8-89AD-C700-6D2B-436432D3A371}"/>
              </a:ext>
            </a:extLst>
          </p:cNvPr>
          <p:cNvSpPr txBox="1">
            <a:spLocks/>
          </p:cNvSpPr>
          <p:nvPr/>
        </p:nvSpPr>
        <p:spPr>
          <a:xfrm>
            <a:off x="723900" y="48160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smtClean="0">
                <a:latin typeface="Times New Roman" panose="02020603050405020304" pitchFamily="18" charset="0"/>
                <a:cs typeface="Times New Roman" panose="02020603050405020304" pitchFamily="18" charset="0"/>
              </a:rPr>
              <a:t>SYSTEM REQUREMENTS</a:t>
            </a:r>
            <a:br>
              <a:rPr lang="en-US" sz="3600" b="1" dirty="0" smtClean="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7" name="Rectangle 1"/>
          <p:cNvSpPr>
            <a:spLocks noChangeArrowheads="1"/>
          </p:cNvSpPr>
          <p:nvPr/>
        </p:nvSpPr>
        <p:spPr bwMode="auto">
          <a:xfrm>
            <a:off x="530678" y="1699706"/>
            <a:ext cx="10902043"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2400" b="1" dirty="0" smtClean="0"/>
              <a:t>Software Requirements:</a:t>
            </a:r>
            <a:endParaRPr lang="en-IN" sz="2400" dirty="0" smtClean="0"/>
          </a:p>
        </p:txBody>
      </p:sp>
      <p:sp>
        <p:nvSpPr>
          <p:cNvPr id="2" name="Rectangle 1"/>
          <p:cNvSpPr>
            <a:spLocks noChangeArrowheads="1"/>
          </p:cNvSpPr>
          <p:nvPr/>
        </p:nvSpPr>
        <p:spPr bwMode="auto">
          <a:xfrm>
            <a:off x="1968500" y="2542987"/>
            <a:ext cx="7350154"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Operating System:</a:t>
            </a:r>
            <a:r>
              <a:rPr kumimoji="0" lang="en-US" altLang="en-US" sz="1800" b="0" i="0" u="none" strike="noStrike" cap="none" normalizeH="0" baseline="0" dirty="0" smtClean="0">
                <a:ln>
                  <a:noFill/>
                </a:ln>
                <a:solidFill>
                  <a:schemeClr val="tx1"/>
                </a:solidFill>
                <a:effectLst/>
                <a:latin typeface="Arial" panose="020B0604020202020204" pitchFamily="34" charset="0"/>
              </a:rPr>
              <a:t> Windows 10/11 (64-bit) or Linux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Frontend:</a:t>
            </a:r>
            <a:r>
              <a:rPr kumimoji="0" lang="en-US" altLang="en-US" sz="1800" b="0" i="0" u="none" strike="noStrike" cap="none" normalizeH="0" baseline="0" dirty="0" smtClean="0">
                <a:ln>
                  <a:noFill/>
                </a:ln>
                <a:solidFill>
                  <a:schemeClr val="tx1"/>
                </a:solidFill>
                <a:effectLst/>
                <a:latin typeface="Arial" panose="020B0604020202020204" pitchFamily="34" charset="0"/>
              </a:rPr>
              <a:t> Electron, React, </a:t>
            </a:r>
            <a:r>
              <a:rPr kumimoji="0" lang="en-US" altLang="en-US" sz="1800" b="0" i="0" u="none" strike="noStrike" cap="none" normalizeH="0" baseline="0" dirty="0" err="1" smtClean="0">
                <a:ln>
                  <a:noFill/>
                </a:ln>
                <a:solidFill>
                  <a:schemeClr val="tx1"/>
                </a:solidFill>
                <a:effectLst/>
                <a:latin typeface="Arial" panose="020B0604020202020204" pitchFamily="34" charset="0"/>
              </a:rPr>
              <a:t>TypeScript</a:t>
            </a:r>
            <a:r>
              <a:rPr kumimoji="0" lang="en-US" altLang="en-US" sz="1800" b="0" i="0" u="none" strike="noStrike" cap="none" normalizeH="0" baseline="0" dirty="0" smtClean="0">
                <a:ln>
                  <a:noFill/>
                </a:ln>
                <a:solidFill>
                  <a:schemeClr val="tx1"/>
                </a:solidFill>
                <a:effectLst/>
                <a:latin typeface="Arial" panose="020B0604020202020204" pitchFamily="34" charset="0"/>
              </a:rPr>
              <a:t>, Tailwind CSS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Backend:</a:t>
            </a:r>
            <a:r>
              <a:rPr kumimoji="0" lang="en-US" altLang="en-US" sz="1800" b="0" i="0" u="none" strike="noStrike" cap="none" normalizeH="0" baseline="0" dirty="0" smtClean="0">
                <a:ln>
                  <a:noFill/>
                </a:ln>
                <a:solidFill>
                  <a:schemeClr val="tx1"/>
                </a:solidFill>
                <a:effectLst/>
                <a:latin typeface="Arial" panose="020B0604020202020204" pitchFamily="34" charset="0"/>
              </a:rPr>
              <a:t> Python (</a:t>
            </a:r>
            <a:r>
              <a:rPr kumimoji="0" lang="en-US" altLang="en-US" sz="1800" b="0" i="0" u="none" strike="noStrike" cap="none" normalizeH="0" baseline="0" dirty="0" err="1" smtClean="0">
                <a:ln>
                  <a:noFill/>
                </a:ln>
                <a:solidFill>
                  <a:schemeClr val="tx1"/>
                </a:solidFill>
                <a:effectLst/>
                <a:latin typeface="Arial" panose="020B0604020202020204" pitchFamily="34" charset="0"/>
              </a:rPr>
              <a:t>FastAPI</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AI/ML Framework:</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PyTorch</a:t>
            </a:r>
            <a:r>
              <a:rPr kumimoji="0" lang="en-US" altLang="en-US" sz="1800" b="0" i="0" u="none" strike="noStrike" cap="none" normalizeH="0" baseline="0" dirty="0" smtClean="0">
                <a:ln>
                  <a:noFill/>
                </a:ln>
                <a:solidFill>
                  <a:schemeClr val="tx1"/>
                </a:solidFill>
                <a:effectLst/>
                <a:latin typeface="Arial" panose="020B0604020202020204" pitchFamily="34" charset="0"/>
              </a:rPr>
              <a:t>, YOLOv8, </a:t>
            </a:r>
            <a:r>
              <a:rPr kumimoji="0" lang="en-US" altLang="en-US" sz="1800" b="0" i="0" u="none" strike="noStrike" cap="none" normalizeH="0" baseline="0" dirty="0" err="1" smtClean="0">
                <a:ln>
                  <a:noFill/>
                </a:ln>
                <a:solidFill>
                  <a:schemeClr val="tx1"/>
                </a:solidFill>
                <a:effectLst/>
                <a:latin typeface="Arial" panose="020B0604020202020204" pitchFamily="34" charset="0"/>
              </a:rPr>
              <a:t>OpenCV</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Database:</a:t>
            </a:r>
            <a:r>
              <a:rPr kumimoji="0" lang="en-US" altLang="en-US" sz="1800" b="0" i="0" u="none" strike="noStrike" cap="none" normalizeH="0" baseline="0" dirty="0" smtClean="0">
                <a:ln>
                  <a:noFill/>
                </a:ln>
                <a:solidFill>
                  <a:schemeClr val="tx1"/>
                </a:solidFill>
                <a:effectLst/>
                <a:latin typeface="Arial" panose="020B0604020202020204" pitchFamily="34" charset="0"/>
              </a:rPr>
              <a:t> SQLite (Local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Development Tools:</a:t>
            </a:r>
            <a:r>
              <a:rPr kumimoji="0" lang="en-US" altLang="en-US" sz="1800" b="0" i="0" u="none" strike="noStrike" cap="none" normalizeH="0" baseline="0" dirty="0" smtClean="0">
                <a:ln>
                  <a:noFill/>
                </a:ln>
                <a:solidFill>
                  <a:schemeClr val="tx1"/>
                </a:solidFill>
                <a:effectLst/>
                <a:latin typeface="Arial" panose="020B0604020202020204" pitchFamily="34" charset="0"/>
              </a:rPr>
              <a:t> Visual Studio Code, </a:t>
            </a:r>
            <a:r>
              <a:rPr kumimoji="0" lang="en-US" altLang="en-US" sz="1800" b="0" i="0" u="none" strike="noStrike" cap="none" normalizeH="0" baseline="0" dirty="0" err="1" smtClean="0">
                <a:ln>
                  <a:noFill/>
                </a:ln>
                <a:solidFill>
                  <a:schemeClr val="tx1"/>
                </a:solidFill>
                <a:effectLst/>
                <a:latin typeface="Arial" panose="020B0604020202020204" pitchFamily="34" charset="0"/>
              </a:rPr>
              <a:t>Git</a:t>
            </a:r>
            <a:r>
              <a:rPr kumimoji="0" lang="en-US" altLang="en-US" sz="1800" b="0" i="0" u="none" strike="noStrike" cap="none" normalizeH="0" baseline="0" dirty="0" smtClean="0">
                <a:ln>
                  <a:noFill/>
                </a:ln>
                <a:solidFill>
                  <a:schemeClr val="tx1"/>
                </a:solidFill>
                <a:effectLst/>
                <a:latin typeface="Arial" panose="020B0604020202020204" pitchFamily="34" charset="0"/>
              </a:rPr>
              <a:t>, Node.js, Python 3.11+ </a:t>
            </a:r>
          </a:p>
        </p:txBody>
      </p:sp>
    </p:spTree>
    <p:extLst>
      <p:ext uri="{BB962C8B-B14F-4D97-AF65-F5344CB8AC3E}">
        <p14:creationId xmlns:p14="http://schemas.microsoft.com/office/powerpoint/2010/main" val="36304772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82057" y="236991"/>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SYSTEM ARCHITECTURE</a:t>
            </a:r>
            <a:endParaRPr lang="en-IN" sz="3600" b="1"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439" y="1197428"/>
            <a:ext cx="9741971" cy="5482772"/>
          </a:xfrm>
          <a:prstGeom prst="rect">
            <a:avLst/>
          </a:prstGeom>
        </p:spPr>
      </p:pic>
    </p:spTree>
    <p:extLst>
      <p:ext uri="{BB962C8B-B14F-4D97-AF65-F5344CB8AC3E}">
        <p14:creationId xmlns:p14="http://schemas.microsoft.com/office/powerpoint/2010/main" val="37490227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ctrTitle"/>
          </p:nvPr>
        </p:nvSpPr>
        <p:spPr>
          <a:xfrm>
            <a:off x="1582057" y="236991"/>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USE CASE DIAGRAM</a:t>
            </a:r>
            <a:endParaRPr lang="en-IN" sz="3600" b="1" dirty="0">
              <a:latin typeface="Arial" panose="020B0604020202020204" pitchFamily="34" charset="0"/>
              <a:cs typeface="Arial" panose="020B0604020202020204" pitchFamily="34" charset="0"/>
            </a:endParaRP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1" t="8661" r="2346" b="2085"/>
          <a:stretch/>
        </p:blipFill>
        <p:spPr bwMode="auto">
          <a:xfrm>
            <a:off x="1384300" y="1536700"/>
            <a:ext cx="970280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2640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ctrTitle"/>
          </p:nvPr>
        </p:nvSpPr>
        <p:spPr>
          <a:xfrm>
            <a:off x="1582057" y="236991"/>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SEQUENCE DIAGRAM</a:t>
            </a:r>
            <a:endParaRPr lang="en-IN" sz="3600" b="1" dirty="0">
              <a:latin typeface="Arial" panose="020B0604020202020204" pitchFamily="34" charset="0"/>
              <a:cs typeface="Arial" panose="020B0604020202020204" pitchFamily="34" charset="0"/>
            </a:endParaRP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997" t="8762" r="816" b="2760"/>
          <a:stretch/>
        </p:blipFill>
        <p:spPr>
          <a:xfrm>
            <a:off x="-1" y="1342434"/>
            <a:ext cx="11405937" cy="5070398"/>
          </a:xfrm>
          <a:prstGeom prst="rect">
            <a:avLst/>
          </a:prstGeom>
        </p:spPr>
      </p:pic>
    </p:spTree>
    <p:extLst>
      <p:ext uri="{BB962C8B-B14F-4D97-AF65-F5344CB8AC3E}">
        <p14:creationId xmlns:p14="http://schemas.microsoft.com/office/powerpoint/2010/main" val="10147531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ctrTitle"/>
          </p:nvPr>
        </p:nvSpPr>
        <p:spPr>
          <a:xfrm>
            <a:off x="1582057" y="244611"/>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CLASS DIAGRAM</a:t>
            </a:r>
            <a:endParaRPr lang="en-IN" sz="36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500" t="12146" r="565" b="840"/>
          <a:stretch/>
        </p:blipFill>
        <p:spPr>
          <a:xfrm>
            <a:off x="1191125" y="1455823"/>
            <a:ext cx="10359191" cy="5127670"/>
          </a:xfrm>
          <a:prstGeom prst="rect">
            <a:avLst/>
          </a:prstGeom>
        </p:spPr>
      </p:pic>
    </p:spTree>
    <p:extLst>
      <p:ext uri="{BB962C8B-B14F-4D97-AF65-F5344CB8AC3E}">
        <p14:creationId xmlns:p14="http://schemas.microsoft.com/office/powerpoint/2010/main" val="462593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ctrTitle"/>
          </p:nvPr>
        </p:nvSpPr>
        <p:spPr>
          <a:xfrm>
            <a:off x="1582057" y="245537"/>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MODULES</a:t>
            </a:r>
            <a:endParaRPr lang="en-IN" sz="3600" b="1" dirty="0">
              <a:latin typeface="Arial" panose="020B0604020202020204" pitchFamily="34" charset="0"/>
              <a:cs typeface="Arial" panose="020B0604020202020204" pitchFamily="34" charset="0"/>
            </a:endParaRPr>
          </a:p>
        </p:txBody>
      </p:sp>
      <p:sp>
        <p:nvSpPr>
          <p:cNvPr id="8" name="TextBox 7"/>
          <p:cNvSpPr txBox="1"/>
          <p:nvPr/>
        </p:nvSpPr>
        <p:spPr>
          <a:xfrm>
            <a:off x="2223836" y="2472871"/>
            <a:ext cx="10071100" cy="2542363"/>
          </a:xfrm>
          <a:prstGeom prst="rect">
            <a:avLst/>
          </a:prstGeom>
          <a:noFill/>
        </p:spPr>
        <p:txBody>
          <a:bodyPr wrap="square" rtlCol="0">
            <a:spAutoFit/>
          </a:bodyPr>
          <a:lstStyle/>
          <a:p>
            <a:pPr marL="342900" indent="-342900">
              <a:lnSpc>
                <a:spcPct val="150000"/>
              </a:lnSpc>
              <a:buFont typeface="+mj-lt"/>
              <a:buAutoNum type="arabicPeriod"/>
            </a:pPr>
            <a:r>
              <a:rPr lang="en-IN" dirty="0"/>
              <a:t>AI Service Manager </a:t>
            </a:r>
          </a:p>
          <a:p>
            <a:pPr marL="342900" indent="-342900">
              <a:lnSpc>
                <a:spcPct val="150000"/>
              </a:lnSpc>
              <a:buFont typeface="+mj-lt"/>
              <a:buAutoNum type="arabicPeriod"/>
            </a:pPr>
            <a:r>
              <a:rPr lang="en-IN" dirty="0"/>
              <a:t>Camera Manager </a:t>
            </a:r>
          </a:p>
          <a:p>
            <a:pPr marL="342900" indent="-342900">
              <a:lnSpc>
                <a:spcPct val="150000"/>
              </a:lnSpc>
              <a:buFont typeface="+mj-lt"/>
              <a:buAutoNum type="arabicPeriod"/>
            </a:pPr>
            <a:r>
              <a:rPr lang="en-IN" dirty="0"/>
              <a:t>Dataset Manager </a:t>
            </a:r>
          </a:p>
          <a:p>
            <a:pPr marL="342900" indent="-342900">
              <a:lnSpc>
                <a:spcPct val="150000"/>
              </a:lnSpc>
              <a:buFont typeface="+mj-lt"/>
              <a:buAutoNum type="arabicPeriod"/>
            </a:pPr>
            <a:r>
              <a:rPr lang="en-IN" dirty="0"/>
              <a:t>Model Manager </a:t>
            </a:r>
          </a:p>
          <a:p>
            <a:pPr marL="342900" indent="-342900">
              <a:lnSpc>
                <a:spcPct val="150000"/>
              </a:lnSpc>
              <a:buFont typeface="+mj-lt"/>
              <a:buAutoNum type="arabicPeriod"/>
            </a:pPr>
            <a:r>
              <a:rPr lang="en-IN" dirty="0"/>
              <a:t>Inspection &amp; Analytics Module </a:t>
            </a:r>
          </a:p>
          <a:p>
            <a:pPr marL="342900" indent="-342900">
              <a:lnSpc>
                <a:spcPct val="150000"/>
              </a:lnSpc>
              <a:buFont typeface="+mj-lt"/>
              <a:buAutoNum type="arabicPeriod"/>
            </a:pPr>
            <a:r>
              <a:rPr lang="en-IN" dirty="0"/>
              <a:t>Report &amp; Database Management </a:t>
            </a:r>
          </a:p>
        </p:txBody>
      </p:sp>
    </p:spTree>
    <p:extLst>
      <p:ext uri="{BB962C8B-B14F-4D97-AF65-F5344CB8AC3E}">
        <p14:creationId xmlns:p14="http://schemas.microsoft.com/office/powerpoint/2010/main" val="42857357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567050" y="2274703"/>
            <a:ext cx="8425948" cy="2957861"/>
          </a:xfrm>
          <a:prstGeom prst="rect">
            <a:avLst/>
          </a:prstGeom>
        </p:spPr>
        <p:txBody>
          <a:bodyPr wrap="square">
            <a:spAutoFit/>
          </a:bodyPr>
          <a:lstStyle/>
          <a:p>
            <a:pPr>
              <a:lnSpc>
                <a:spcPct val="150000"/>
              </a:lnSpc>
            </a:pPr>
            <a:r>
              <a:rPr lang="en-US" b="1" dirty="0"/>
              <a:t>Functions</a:t>
            </a:r>
          </a:p>
          <a:p>
            <a:pPr marL="285750" indent="-285750">
              <a:lnSpc>
                <a:spcPct val="150000"/>
              </a:lnSpc>
              <a:buFont typeface="Arial" panose="020B0604020202020204" pitchFamily="34" charset="0"/>
              <a:buChar char="•"/>
            </a:pPr>
            <a:r>
              <a:rPr lang="en-US" dirty="0"/>
              <a:t>Executes YOLO AI models for defect detection. </a:t>
            </a:r>
          </a:p>
          <a:p>
            <a:pPr marL="285750" indent="-285750">
              <a:lnSpc>
                <a:spcPct val="150000"/>
              </a:lnSpc>
              <a:buFont typeface="Arial" panose="020B0604020202020204" pitchFamily="34" charset="0"/>
              <a:buChar char="•"/>
            </a:pPr>
            <a:r>
              <a:rPr lang="en-US" dirty="0"/>
              <a:t>Processes captured fabric images in real time. </a:t>
            </a:r>
          </a:p>
          <a:p>
            <a:pPr marL="285750" indent="-285750">
              <a:lnSpc>
                <a:spcPct val="150000"/>
              </a:lnSpc>
              <a:buFont typeface="Arial" panose="020B0604020202020204" pitchFamily="34" charset="0"/>
              <a:buChar char="•"/>
            </a:pPr>
            <a:r>
              <a:rPr lang="en-US" dirty="0"/>
              <a:t>Classifies different types of fabric defects. </a:t>
            </a:r>
          </a:p>
          <a:p>
            <a:pPr marL="285750" indent="-285750">
              <a:lnSpc>
                <a:spcPct val="150000"/>
              </a:lnSpc>
              <a:buFont typeface="Arial" panose="020B0604020202020204" pitchFamily="34" charset="0"/>
              <a:buChar char="•"/>
            </a:pPr>
            <a:r>
              <a:rPr lang="en-US" dirty="0"/>
              <a:t>Calculates defect confidence and severity. </a:t>
            </a:r>
          </a:p>
          <a:p>
            <a:pPr marL="285750" indent="-285750">
              <a:lnSpc>
                <a:spcPct val="150000"/>
              </a:lnSpc>
              <a:buFont typeface="Arial" panose="020B0604020202020204" pitchFamily="34" charset="0"/>
              <a:buChar char="•"/>
            </a:pPr>
            <a:r>
              <a:rPr lang="en-US" dirty="0"/>
              <a:t>Sends inspection results to the application.</a:t>
            </a:r>
          </a:p>
          <a:p>
            <a:pPr>
              <a:lnSpc>
                <a:spcPct val="150000"/>
              </a:lnSpc>
            </a:pPr>
            <a:endParaRPr lang="en-IN" dirty="0"/>
          </a:p>
        </p:txBody>
      </p:sp>
      <p:sp>
        <p:nvSpPr>
          <p:cNvPr id="17" name="Rectangle 16"/>
          <p:cNvSpPr/>
          <p:nvPr/>
        </p:nvSpPr>
        <p:spPr>
          <a:xfrm>
            <a:off x="109058" y="600689"/>
            <a:ext cx="12082942" cy="1384995"/>
          </a:xfrm>
          <a:prstGeom prst="rect">
            <a:avLst/>
          </a:prstGeom>
        </p:spPr>
        <p:txBody>
          <a:bodyPr wrap="square">
            <a:spAutoFit/>
          </a:bodyPr>
          <a:lstStyle/>
          <a:p>
            <a:pPr algn="ctr"/>
            <a:r>
              <a:rPr lang="en-IN" sz="3600" dirty="0" smtClean="0">
                <a:latin typeface="Arial Black" panose="020B0A04020102020204" pitchFamily="34" charset="0"/>
              </a:rPr>
              <a:t>1.</a:t>
            </a:r>
            <a:r>
              <a:rPr lang="en-IN" sz="3600" dirty="0">
                <a:latin typeface="Arial Black" panose="020B0A04020102020204" pitchFamily="34" charset="0"/>
              </a:rPr>
              <a:t> AI Service Manager</a:t>
            </a:r>
          </a:p>
          <a:p>
            <a:r>
              <a:rPr lang="en-IN" sz="4800" dirty="0" smtClean="0">
                <a:latin typeface="Arial Black" panose="020B0A04020102020204" pitchFamily="34" charset="0"/>
              </a:rPr>
              <a:t> </a:t>
            </a:r>
            <a:endParaRPr lang="en-IN" sz="3600" dirty="0"/>
          </a:p>
        </p:txBody>
      </p:sp>
      <p:sp>
        <p:nvSpPr>
          <p:cNvPr id="18" name="Rectangle 17"/>
          <p:cNvSpPr/>
          <p:nvPr/>
        </p:nvSpPr>
        <p:spPr>
          <a:xfrm>
            <a:off x="3094209" y="-485589"/>
            <a:ext cx="6096000" cy="369332"/>
          </a:xfrm>
          <a:prstGeom prst="rect">
            <a:avLst/>
          </a:prstGeom>
        </p:spPr>
        <p:txBody>
          <a:bodyPr>
            <a:spAutoFit/>
          </a:bodyPr>
          <a:lstStyle/>
          <a:p>
            <a:r>
              <a:rPr lang="en-IN" dirty="0" smtClean="0"/>
              <a:t>┘</a:t>
            </a:r>
            <a:endParaRPr lang="en-IN" dirty="0"/>
          </a:p>
        </p:txBody>
      </p:sp>
      <p:pic>
        <p:nvPicPr>
          <p:cNvPr id="3" name="Picture 2"/>
          <p:cNvPicPr>
            <a:picLocks noChangeAspect="1"/>
          </p:cNvPicPr>
          <p:nvPr/>
        </p:nvPicPr>
        <p:blipFill>
          <a:blip r:embed="rId2"/>
          <a:stretch>
            <a:fillRect/>
          </a:stretch>
        </p:blipFill>
        <p:spPr>
          <a:xfrm>
            <a:off x="8653771" y="2010314"/>
            <a:ext cx="2753109" cy="3486637"/>
          </a:xfrm>
          <a:prstGeom prst="rect">
            <a:avLst/>
          </a:prstGeom>
        </p:spPr>
      </p:pic>
    </p:spTree>
    <p:extLst>
      <p:ext uri="{BB962C8B-B14F-4D97-AF65-F5344CB8AC3E}">
        <p14:creationId xmlns:p14="http://schemas.microsoft.com/office/powerpoint/2010/main" val="559909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78876" y="637660"/>
            <a:ext cx="5098768" cy="646331"/>
          </a:xfrm>
          <a:prstGeom prst="rect">
            <a:avLst/>
          </a:prstGeom>
        </p:spPr>
        <p:txBody>
          <a:bodyPr wrap="none">
            <a:spAutoFit/>
          </a:bodyPr>
          <a:lstStyle/>
          <a:p>
            <a:r>
              <a:rPr lang="en-IN" sz="3600" dirty="0">
                <a:latin typeface="Arial Black" panose="020B0A04020102020204" pitchFamily="34" charset="0"/>
              </a:rPr>
              <a:t>2. Camera Manager</a:t>
            </a:r>
          </a:p>
        </p:txBody>
      </p:sp>
      <p:sp>
        <p:nvSpPr>
          <p:cNvPr id="3" name="Rectangle 2"/>
          <p:cNvSpPr/>
          <p:nvPr/>
        </p:nvSpPr>
        <p:spPr>
          <a:xfrm>
            <a:off x="1026466" y="2476598"/>
            <a:ext cx="8411910" cy="2542363"/>
          </a:xfrm>
          <a:prstGeom prst="rect">
            <a:avLst/>
          </a:prstGeom>
        </p:spPr>
        <p:txBody>
          <a:bodyPr wrap="square">
            <a:spAutoFit/>
          </a:bodyPr>
          <a:lstStyle/>
          <a:p>
            <a:pPr>
              <a:lnSpc>
                <a:spcPct val="150000"/>
              </a:lnSpc>
            </a:pPr>
            <a:r>
              <a:rPr lang="en-US" b="1" dirty="0"/>
              <a:t>Functions</a:t>
            </a:r>
          </a:p>
          <a:p>
            <a:pPr marL="285750" indent="-285750">
              <a:lnSpc>
                <a:spcPct val="150000"/>
              </a:lnSpc>
              <a:buFont typeface="Arial" panose="020B0604020202020204" pitchFamily="34" charset="0"/>
              <a:buChar char="•"/>
            </a:pPr>
            <a:r>
              <a:rPr lang="en-US" dirty="0"/>
              <a:t>Connects USB, RTSP, and IP cameras. </a:t>
            </a:r>
          </a:p>
          <a:p>
            <a:pPr marL="285750" indent="-285750">
              <a:lnSpc>
                <a:spcPct val="150000"/>
              </a:lnSpc>
              <a:buFont typeface="Arial" panose="020B0604020202020204" pitchFamily="34" charset="0"/>
              <a:buChar char="•"/>
            </a:pPr>
            <a:r>
              <a:rPr lang="en-US" dirty="0"/>
              <a:t>Captures live fabric images continuously. </a:t>
            </a:r>
          </a:p>
          <a:p>
            <a:pPr marL="285750" indent="-285750">
              <a:lnSpc>
                <a:spcPct val="150000"/>
              </a:lnSpc>
              <a:buFont typeface="Arial" panose="020B0604020202020204" pitchFamily="34" charset="0"/>
              <a:buChar char="•"/>
            </a:pPr>
            <a:r>
              <a:rPr lang="en-US" dirty="0"/>
              <a:t>Manages multiple camera streams. </a:t>
            </a:r>
          </a:p>
          <a:p>
            <a:pPr marL="285750" indent="-285750">
              <a:lnSpc>
                <a:spcPct val="150000"/>
              </a:lnSpc>
              <a:buFont typeface="Arial" panose="020B0604020202020204" pitchFamily="34" charset="0"/>
              <a:buChar char="•"/>
            </a:pPr>
            <a:r>
              <a:rPr lang="en-US" dirty="0"/>
              <a:t>Performs camera calibration. </a:t>
            </a:r>
          </a:p>
          <a:p>
            <a:pPr marL="285750" indent="-285750">
              <a:lnSpc>
                <a:spcPct val="150000"/>
              </a:lnSpc>
              <a:buFont typeface="Arial" panose="020B0604020202020204" pitchFamily="34" charset="0"/>
              <a:buChar char="•"/>
            </a:pPr>
            <a:r>
              <a:rPr lang="en-US" dirty="0"/>
              <a:t>Sends image frames to the AI engine.</a:t>
            </a:r>
          </a:p>
        </p:txBody>
      </p:sp>
      <p:pic>
        <p:nvPicPr>
          <p:cNvPr id="4" name="Picture 3"/>
          <p:cNvPicPr>
            <a:picLocks noChangeAspect="1"/>
          </p:cNvPicPr>
          <p:nvPr/>
        </p:nvPicPr>
        <p:blipFill>
          <a:blip r:embed="rId2"/>
          <a:stretch>
            <a:fillRect/>
          </a:stretch>
        </p:blipFill>
        <p:spPr>
          <a:xfrm>
            <a:off x="8383292" y="1947302"/>
            <a:ext cx="3029373" cy="3600953"/>
          </a:xfrm>
          <a:prstGeom prst="rect">
            <a:avLst/>
          </a:prstGeom>
        </p:spPr>
      </p:pic>
    </p:spTree>
    <p:extLst>
      <p:ext uri="{BB962C8B-B14F-4D97-AF65-F5344CB8AC3E}">
        <p14:creationId xmlns:p14="http://schemas.microsoft.com/office/powerpoint/2010/main" val="2358575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50620" y="743245"/>
            <a:ext cx="5108643" cy="646331"/>
          </a:xfrm>
          <a:prstGeom prst="rect">
            <a:avLst/>
          </a:prstGeom>
        </p:spPr>
        <p:txBody>
          <a:bodyPr wrap="none">
            <a:spAutoFit/>
          </a:bodyPr>
          <a:lstStyle/>
          <a:p>
            <a:r>
              <a:rPr lang="en-IN" sz="3600" dirty="0">
                <a:latin typeface="Arial Black" panose="020B0A04020102020204" pitchFamily="34" charset="0"/>
              </a:rPr>
              <a:t>3. Dataset Manager</a:t>
            </a:r>
          </a:p>
        </p:txBody>
      </p:sp>
      <p:sp>
        <p:nvSpPr>
          <p:cNvPr id="3" name="Rectangle 2"/>
          <p:cNvSpPr/>
          <p:nvPr/>
        </p:nvSpPr>
        <p:spPr>
          <a:xfrm>
            <a:off x="1211111" y="2344351"/>
            <a:ext cx="7155698" cy="2957861"/>
          </a:xfrm>
          <a:prstGeom prst="rect">
            <a:avLst/>
          </a:prstGeom>
        </p:spPr>
        <p:txBody>
          <a:bodyPr wrap="square">
            <a:spAutoFit/>
          </a:bodyPr>
          <a:lstStyle/>
          <a:p>
            <a:pPr>
              <a:lnSpc>
                <a:spcPct val="150000"/>
              </a:lnSpc>
            </a:pPr>
            <a:r>
              <a:rPr lang="en-US" b="1" dirty="0"/>
              <a:t>Functions</a:t>
            </a:r>
          </a:p>
          <a:p>
            <a:pPr marL="285750" indent="-285750">
              <a:lnSpc>
                <a:spcPct val="150000"/>
              </a:lnSpc>
              <a:buFont typeface="Arial" panose="020B0604020202020204" pitchFamily="34" charset="0"/>
              <a:buChar char="•"/>
            </a:pPr>
            <a:r>
              <a:rPr lang="en-US" dirty="0"/>
              <a:t>Imports fabric image datasets. </a:t>
            </a:r>
          </a:p>
          <a:p>
            <a:pPr marL="285750" indent="-285750">
              <a:lnSpc>
                <a:spcPct val="150000"/>
              </a:lnSpc>
              <a:buFont typeface="Arial" panose="020B0604020202020204" pitchFamily="34" charset="0"/>
              <a:buChar char="•"/>
            </a:pPr>
            <a:r>
              <a:rPr lang="en-US" dirty="0"/>
              <a:t>Validates dataset quality. </a:t>
            </a:r>
          </a:p>
          <a:p>
            <a:pPr marL="285750" indent="-285750">
              <a:lnSpc>
                <a:spcPct val="150000"/>
              </a:lnSpc>
              <a:buFont typeface="Arial" panose="020B0604020202020204" pitchFamily="34" charset="0"/>
              <a:buChar char="•"/>
            </a:pPr>
            <a:r>
              <a:rPr lang="en-US" dirty="0"/>
              <a:t>Stores annotations and labels. </a:t>
            </a:r>
          </a:p>
          <a:p>
            <a:pPr marL="285750" indent="-285750">
              <a:lnSpc>
                <a:spcPct val="150000"/>
              </a:lnSpc>
              <a:buFont typeface="Arial" panose="020B0604020202020204" pitchFamily="34" charset="0"/>
              <a:buChar char="•"/>
            </a:pPr>
            <a:r>
              <a:rPr lang="en-US" dirty="0"/>
              <a:t>Organizes dataset versions. </a:t>
            </a:r>
          </a:p>
          <a:p>
            <a:pPr marL="285750" indent="-285750">
              <a:lnSpc>
                <a:spcPct val="150000"/>
              </a:lnSpc>
              <a:buFont typeface="Arial" panose="020B0604020202020204" pitchFamily="34" charset="0"/>
              <a:buChar char="•"/>
            </a:pPr>
            <a:r>
              <a:rPr lang="en-US" dirty="0"/>
              <a:t>Supplies datasets for AI training.</a:t>
            </a:r>
          </a:p>
          <a:p>
            <a:pPr>
              <a:lnSpc>
                <a:spcPct val="150000"/>
              </a:lnSpc>
            </a:pPr>
            <a:endParaRPr lang="en-IN" dirty="0"/>
          </a:p>
        </p:txBody>
      </p:sp>
      <p:pic>
        <p:nvPicPr>
          <p:cNvPr id="4" name="Picture 3"/>
          <p:cNvPicPr>
            <a:picLocks noChangeAspect="1"/>
          </p:cNvPicPr>
          <p:nvPr/>
        </p:nvPicPr>
        <p:blipFill>
          <a:blip r:embed="rId2"/>
          <a:stretch>
            <a:fillRect/>
          </a:stretch>
        </p:blipFill>
        <p:spPr>
          <a:xfrm>
            <a:off x="8366809" y="1767944"/>
            <a:ext cx="2657846" cy="3534268"/>
          </a:xfrm>
          <a:prstGeom prst="rect">
            <a:avLst/>
          </a:prstGeom>
        </p:spPr>
      </p:pic>
    </p:spTree>
    <p:extLst>
      <p:ext uri="{BB962C8B-B14F-4D97-AF65-F5344CB8AC3E}">
        <p14:creationId xmlns:p14="http://schemas.microsoft.com/office/powerpoint/2010/main" val="1801729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1789" y="671180"/>
            <a:ext cx="4654864" cy="646331"/>
          </a:xfrm>
          <a:prstGeom prst="rect">
            <a:avLst/>
          </a:prstGeom>
        </p:spPr>
        <p:txBody>
          <a:bodyPr wrap="none">
            <a:spAutoFit/>
          </a:bodyPr>
          <a:lstStyle/>
          <a:p>
            <a:r>
              <a:rPr lang="en-IN" sz="3600" dirty="0" smtClean="0">
                <a:latin typeface="Arial Black" panose="020B0A04020102020204" pitchFamily="34" charset="0"/>
              </a:rPr>
              <a:t>4. </a:t>
            </a:r>
            <a:r>
              <a:rPr lang="en-IN" sz="3600" dirty="0">
                <a:latin typeface="Arial Black" panose="020B0A04020102020204" pitchFamily="34" charset="0"/>
              </a:rPr>
              <a:t>Model Manager</a:t>
            </a:r>
          </a:p>
        </p:txBody>
      </p:sp>
      <p:sp>
        <p:nvSpPr>
          <p:cNvPr id="3" name="Rectangle 2"/>
          <p:cNvSpPr/>
          <p:nvPr/>
        </p:nvSpPr>
        <p:spPr>
          <a:xfrm>
            <a:off x="1075025" y="2345899"/>
            <a:ext cx="7178770" cy="2542363"/>
          </a:xfrm>
          <a:prstGeom prst="rect">
            <a:avLst/>
          </a:prstGeom>
        </p:spPr>
        <p:txBody>
          <a:bodyPr wrap="square">
            <a:spAutoFit/>
          </a:bodyPr>
          <a:lstStyle/>
          <a:p>
            <a:pPr>
              <a:lnSpc>
                <a:spcPct val="150000"/>
              </a:lnSpc>
            </a:pPr>
            <a:r>
              <a:rPr lang="en-US" b="1" dirty="0"/>
              <a:t>Functions</a:t>
            </a:r>
          </a:p>
          <a:p>
            <a:pPr marL="285750" indent="-285750">
              <a:lnSpc>
                <a:spcPct val="150000"/>
              </a:lnSpc>
              <a:buFont typeface="Arial" panose="020B0604020202020204" pitchFamily="34" charset="0"/>
              <a:buChar char="•"/>
            </a:pPr>
            <a:r>
              <a:rPr lang="en-US" dirty="0"/>
              <a:t>Trains YOLO models. </a:t>
            </a:r>
          </a:p>
          <a:p>
            <a:pPr marL="285750" indent="-285750">
              <a:lnSpc>
                <a:spcPct val="150000"/>
              </a:lnSpc>
              <a:buFont typeface="Arial" panose="020B0604020202020204" pitchFamily="34" charset="0"/>
              <a:buChar char="•"/>
            </a:pPr>
            <a:r>
              <a:rPr lang="en-US" dirty="0"/>
              <a:t>Maintains multiple model versions. </a:t>
            </a:r>
          </a:p>
          <a:p>
            <a:pPr marL="285750" indent="-285750">
              <a:lnSpc>
                <a:spcPct val="150000"/>
              </a:lnSpc>
              <a:buFont typeface="Arial" panose="020B0604020202020204" pitchFamily="34" charset="0"/>
              <a:buChar char="•"/>
            </a:pPr>
            <a:r>
              <a:rPr lang="en-US" dirty="0"/>
              <a:t>Evaluates model performance. </a:t>
            </a:r>
          </a:p>
          <a:p>
            <a:pPr marL="285750" indent="-285750">
              <a:lnSpc>
                <a:spcPct val="150000"/>
              </a:lnSpc>
              <a:buFont typeface="Arial" panose="020B0604020202020204" pitchFamily="34" charset="0"/>
              <a:buChar char="•"/>
            </a:pPr>
            <a:r>
              <a:rPr lang="en-US" dirty="0"/>
              <a:t>Deploys the best-performing model. </a:t>
            </a:r>
          </a:p>
          <a:p>
            <a:pPr marL="285750" indent="-285750">
              <a:lnSpc>
                <a:spcPct val="150000"/>
              </a:lnSpc>
              <a:buFont typeface="Arial" panose="020B0604020202020204" pitchFamily="34" charset="0"/>
              <a:buChar char="•"/>
            </a:pPr>
            <a:r>
              <a:rPr lang="en-US" dirty="0"/>
              <a:t>Updates AI models when required.</a:t>
            </a:r>
          </a:p>
        </p:txBody>
      </p:sp>
      <p:pic>
        <p:nvPicPr>
          <p:cNvPr id="4" name="Picture 3"/>
          <p:cNvPicPr>
            <a:picLocks noChangeAspect="1"/>
          </p:cNvPicPr>
          <p:nvPr/>
        </p:nvPicPr>
        <p:blipFill>
          <a:blip r:embed="rId2"/>
          <a:stretch>
            <a:fillRect/>
          </a:stretch>
        </p:blipFill>
        <p:spPr>
          <a:xfrm>
            <a:off x="8577561" y="1888051"/>
            <a:ext cx="2905530" cy="3458058"/>
          </a:xfrm>
          <a:prstGeom prst="rect">
            <a:avLst/>
          </a:prstGeom>
        </p:spPr>
      </p:pic>
    </p:spTree>
    <p:extLst>
      <p:ext uri="{BB962C8B-B14F-4D97-AF65-F5344CB8AC3E}">
        <p14:creationId xmlns:p14="http://schemas.microsoft.com/office/powerpoint/2010/main" val="678143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6019" y="826770"/>
            <a:ext cx="8682057" cy="646331"/>
          </a:xfrm>
          <a:prstGeom prst="rect">
            <a:avLst/>
          </a:prstGeom>
        </p:spPr>
        <p:txBody>
          <a:bodyPr wrap="none">
            <a:spAutoFit/>
          </a:bodyPr>
          <a:lstStyle/>
          <a:p>
            <a:r>
              <a:rPr lang="en-IN" sz="3600" dirty="0">
                <a:latin typeface="Arial Black" panose="020B0A04020102020204" pitchFamily="34" charset="0"/>
              </a:rPr>
              <a:t>5 . Inspection &amp; Analytics Module</a:t>
            </a:r>
          </a:p>
        </p:txBody>
      </p:sp>
      <p:sp>
        <p:nvSpPr>
          <p:cNvPr id="3" name="Rectangle 2"/>
          <p:cNvSpPr/>
          <p:nvPr/>
        </p:nvSpPr>
        <p:spPr>
          <a:xfrm>
            <a:off x="1689628" y="2339375"/>
            <a:ext cx="8365975" cy="2542363"/>
          </a:xfrm>
          <a:prstGeom prst="rect">
            <a:avLst/>
          </a:prstGeom>
        </p:spPr>
        <p:txBody>
          <a:bodyPr wrap="square">
            <a:spAutoFit/>
          </a:bodyPr>
          <a:lstStyle/>
          <a:p>
            <a:pPr>
              <a:lnSpc>
                <a:spcPct val="150000"/>
              </a:lnSpc>
            </a:pPr>
            <a:r>
              <a:rPr lang="en-US" b="1" dirty="0"/>
              <a:t>Functions</a:t>
            </a:r>
          </a:p>
          <a:p>
            <a:pPr marL="285750" indent="-285750">
              <a:lnSpc>
                <a:spcPct val="150000"/>
              </a:lnSpc>
              <a:buFont typeface="Arial" panose="020B0604020202020204" pitchFamily="34" charset="0"/>
              <a:buChar char="•"/>
            </a:pPr>
            <a:r>
              <a:rPr lang="en-US" dirty="0"/>
              <a:t>Detects fabric defects instantly. </a:t>
            </a:r>
          </a:p>
          <a:p>
            <a:pPr marL="285750" indent="-285750">
              <a:lnSpc>
                <a:spcPct val="150000"/>
              </a:lnSpc>
              <a:buFont typeface="Arial" panose="020B0604020202020204" pitchFamily="34" charset="0"/>
              <a:buChar char="•"/>
            </a:pPr>
            <a:r>
              <a:rPr lang="en-US" dirty="0"/>
              <a:t>Classifies defect categories. </a:t>
            </a:r>
          </a:p>
          <a:p>
            <a:pPr marL="285750" indent="-285750">
              <a:lnSpc>
                <a:spcPct val="150000"/>
              </a:lnSpc>
              <a:buFont typeface="Arial" panose="020B0604020202020204" pitchFamily="34" charset="0"/>
              <a:buChar char="•"/>
            </a:pPr>
            <a:r>
              <a:rPr lang="en-US" dirty="0"/>
              <a:t>Calculates quality metrics. </a:t>
            </a:r>
          </a:p>
          <a:p>
            <a:pPr marL="285750" indent="-285750">
              <a:lnSpc>
                <a:spcPct val="150000"/>
              </a:lnSpc>
              <a:buFont typeface="Arial" panose="020B0604020202020204" pitchFamily="34" charset="0"/>
              <a:buChar char="•"/>
            </a:pPr>
            <a:r>
              <a:rPr lang="en-US" dirty="0"/>
              <a:t>Displays live inspection results. </a:t>
            </a:r>
          </a:p>
          <a:p>
            <a:pPr marL="285750" indent="-285750">
              <a:lnSpc>
                <a:spcPct val="150000"/>
              </a:lnSpc>
              <a:buFont typeface="Arial" panose="020B0604020202020204" pitchFamily="34" charset="0"/>
              <a:buChar char="•"/>
            </a:pPr>
            <a:r>
              <a:rPr lang="en-US" dirty="0"/>
              <a:t>Generates production analytics.</a:t>
            </a:r>
          </a:p>
        </p:txBody>
      </p:sp>
      <p:pic>
        <p:nvPicPr>
          <p:cNvPr id="4" name="Picture 3"/>
          <p:cNvPicPr>
            <a:picLocks noChangeAspect="1"/>
          </p:cNvPicPr>
          <p:nvPr/>
        </p:nvPicPr>
        <p:blipFill>
          <a:blip r:embed="rId2"/>
          <a:stretch>
            <a:fillRect/>
          </a:stretch>
        </p:blipFill>
        <p:spPr>
          <a:xfrm>
            <a:off x="8210582" y="2140963"/>
            <a:ext cx="3134162" cy="3372321"/>
          </a:xfrm>
          <a:prstGeom prst="rect">
            <a:avLst/>
          </a:prstGeom>
        </p:spPr>
      </p:pic>
    </p:spTree>
    <p:extLst>
      <p:ext uri="{BB962C8B-B14F-4D97-AF65-F5344CB8AC3E}">
        <p14:creationId xmlns:p14="http://schemas.microsoft.com/office/powerpoint/2010/main" val="385048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749" y="652162"/>
            <a:ext cx="10520201" cy="646331"/>
          </a:xfrm>
          <a:prstGeom prst="rect">
            <a:avLst/>
          </a:prstGeom>
        </p:spPr>
        <p:txBody>
          <a:bodyPr wrap="square">
            <a:spAutoFit/>
          </a:bodyPr>
          <a:lstStyle/>
          <a:p>
            <a:pPr algn="ctr"/>
            <a:r>
              <a:rPr lang="en-US" sz="3600" dirty="0" smtClean="0">
                <a:latin typeface="Arial Black" panose="020B0A04020102020204" pitchFamily="34" charset="0"/>
              </a:rPr>
              <a:t>6</a:t>
            </a:r>
            <a:r>
              <a:rPr lang="en-US" sz="3600" dirty="0">
                <a:latin typeface="Arial Black" panose="020B0A04020102020204" pitchFamily="34" charset="0"/>
              </a:rPr>
              <a:t>. Report &amp; Database Management</a:t>
            </a:r>
            <a:endParaRPr lang="en-IN" sz="3600" dirty="0">
              <a:latin typeface="Arial Black" panose="020B0A04020102020204" pitchFamily="34" charset="0"/>
            </a:endParaRPr>
          </a:p>
        </p:txBody>
      </p:sp>
      <p:sp>
        <p:nvSpPr>
          <p:cNvPr id="3" name="Rectangle 2"/>
          <p:cNvSpPr/>
          <p:nvPr/>
        </p:nvSpPr>
        <p:spPr>
          <a:xfrm>
            <a:off x="1772804" y="2469495"/>
            <a:ext cx="7611385" cy="2270109"/>
          </a:xfrm>
          <a:prstGeom prst="rect">
            <a:avLst/>
          </a:prstGeom>
        </p:spPr>
        <p:txBody>
          <a:bodyPr wrap="square">
            <a:spAutoFit/>
          </a:bodyPr>
          <a:lstStyle/>
          <a:p>
            <a:pPr>
              <a:lnSpc>
                <a:spcPct val="150000"/>
              </a:lnSpc>
            </a:pPr>
            <a:r>
              <a:rPr lang="en-US" sz="1600" b="1" dirty="0"/>
              <a:t>Functions</a:t>
            </a:r>
          </a:p>
          <a:p>
            <a:pPr marL="285750" indent="-285750">
              <a:lnSpc>
                <a:spcPct val="150000"/>
              </a:lnSpc>
              <a:buFont typeface="Arial" panose="020B0604020202020204" pitchFamily="34" charset="0"/>
              <a:buChar char="•"/>
            </a:pPr>
            <a:r>
              <a:rPr lang="en-US" sz="1600" dirty="0"/>
              <a:t>Stores inspection records. </a:t>
            </a:r>
          </a:p>
          <a:p>
            <a:pPr marL="285750" indent="-285750">
              <a:lnSpc>
                <a:spcPct val="150000"/>
              </a:lnSpc>
              <a:buFont typeface="Arial" panose="020B0604020202020204" pitchFamily="34" charset="0"/>
              <a:buChar char="•"/>
            </a:pPr>
            <a:r>
              <a:rPr lang="en-US" sz="1600" dirty="0"/>
              <a:t>Maintains defect history. </a:t>
            </a:r>
          </a:p>
          <a:p>
            <a:pPr marL="285750" indent="-285750">
              <a:lnSpc>
                <a:spcPct val="150000"/>
              </a:lnSpc>
              <a:buFont typeface="Arial" panose="020B0604020202020204" pitchFamily="34" charset="0"/>
              <a:buChar char="•"/>
            </a:pPr>
            <a:r>
              <a:rPr lang="en-US" sz="1600" dirty="0"/>
              <a:t>Generates PDF reports. </a:t>
            </a:r>
          </a:p>
          <a:p>
            <a:pPr marL="285750" indent="-285750">
              <a:lnSpc>
                <a:spcPct val="150000"/>
              </a:lnSpc>
              <a:buFont typeface="Arial" panose="020B0604020202020204" pitchFamily="34" charset="0"/>
              <a:buChar char="•"/>
            </a:pPr>
            <a:r>
              <a:rPr lang="en-US" sz="1600" dirty="0"/>
              <a:t>Exports Excel reports. </a:t>
            </a:r>
          </a:p>
          <a:p>
            <a:pPr marL="285750" indent="-285750">
              <a:lnSpc>
                <a:spcPct val="150000"/>
              </a:lnSpc>
              <a:buFont typeface="Arial" panose="020B0604020202020204" pitchFamily="34" charset="0"/>
              <a:buChar char="•"/>
            </a:pPr>
            <a:r>
              <a:rPr lang="en-US" sz="1600" dirty="0"/>
              <a:t>Supports quality tracking.</a:t>
            </a:r>
          </a:p>
        </p:txBody>
      </p:sp>
      <p:pic>
        <p:nvPicPr>
          <p:cNvPr id="4" name="Picture 3"/>
          <p:cNvPicPr>
            <a:picLocks noChangeAspect="1"/>
          </p:cNvPicPr>
          <p:nvPr/>
        </p:nvPicPr>
        <p:blipFill>
          <a:blip r:embed="rId2"/>
          <a:stretch>
            <a:fillRect/>
          </a:stretch>
        </p:blipFill>
        <p:spPr>
          <a:xfrm>
            <a:off x="7936187" y="1856467"/>
            <a:ext cx="2896004" cy="3496163"/>
          </a:xfrm>
          <a:prstGeom prst="rect">
            <a:avLst/>
          </a:prstGeom>
        </p:spPr>
      </p:pic>
    </p:spTree>
    <p:extLst>
      <p:ext uri="{BB962C8B-B14F-4D97-AF65-F5344CB8AC3E}">
        <p14:creationId xmlns:p14="http://schemas.microsoft.com/office/powerpoint/2010/main" val="3875815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ctrTitle"/>
          </p:nvPr>
        </p:nvSpPr>
        <p:spPr>
          <a:xfrm>
            <a:off x="1582057" y="236991"/>
            <a:ext cx="9144000" cy="808037"/>
          </a:xfrm>
        </p:spPr>
        <p:txBody>
          <a:bodyPr>
            <a:normAutofit/>
          </a:bodyPr>
          <a:lstStyle/>
          <a:p>
            <a:pPr>
              <a:tabLst>
                <a:tab pos="2684463" algn="l"/>
              </a:tabLst>
            </a:pPr>
            <a:r>
              <a:rPr lang="en-IN" sz="3600" b="1" dirty="0" smtClean="0">
                <a:latin typeface="Arial" panose="020B0604020202020204" pitchFamily="34" charset="0"/>
                <a:cs typeface="Arial" panose="020B0604020202020204" pitchFamily="34" charset="0"/>
              </a:rPr>
              <a:t>REFERENCE</a:t>
            </a:r>
            <a:endParaRPr lang="en-IN" sz="3600" b="1" dirty="0">
              <a:latin typeface="Arial" panose="020B0604020202020204" pitchFamily="34" charset="0"/>
              <a:cs typeface="Arial" panose="020B0604020202020204" pitchFamily="34" charset="0"/>
            </a:endParaRPr>
          </a:p>
        </p:txBody>
      </p:sp>
      <p:sp>
        <p:nvSpPr>
          <p:cNvPr id="2" name="Rectangle 1"/>
          <p:cNvSpPr>
            <a:spLocks noChangeArrowheads="1"/>
          </p:cNvSpPr>
          <p:nvPr/>
        </p:nvSpPr>
        <p:spPr bwMode="auto">
          <a:xfrm>
            <a:off x="794084" y="1250052"/>
            <a:ext cx="968542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Jocher</a:t>
            </a:r>
            <a:r>
              <a:rPr kumimoji="0" lang="en-US" altLang="en-US" sz="1800" b="1" i="0" u="none" strike="noStrike" cap="none" normalizeH="0" baseline="0" dirty="0" smtClean="0">
                <a:ln>
                  <a:noFill/>
                </a:ln>
                <a:solidFill>
                  <a:schemeClr val="tx1"/>
                </a:solidFill>
                <a:effectLst/>
                <a:latin typeface="Arial" panose="020B0604020202020204" pitchFamily="34" charset="0"/>
              </a:rPr>
              <a:t>, G., et al. - </a:t>
            </a:r>
            <a:r>
              <a:rPr kumimoji="0" lang="en-US" altLang="en-US" sz="1800" b="0" i="1" u="none" strike="noStrike" cap="none" normalizeH="0" baseline="0" dirty="0" smtClean="0">
                <a:ln>
                  <a:noFill/>
                </a:ln>
                <a:solidFill>
                  <a:schemeClr val="tx1"/>
                </a:solidFill>
                <a:effectLst/>
                <a:latin typeface="Arial" panose="020B0604020202020204" pitchFamily="34" charset="0"/>
              </a:rPr>
              <a:t>YOLOv8: </a:t>
            </a:r>
            <a:r>
              <a:rPr kumimoji="0" lang="en-US" altLang="en-US" sz="1800" b="0" i="1" u="none" strike="noStrike" cap="none" normalizeH="0" baseline="0" dirty="0" err="1" smtClean="0">
                <a:ln>
                  <a:noFill/>
                </a:ln>
                <a:solidFill>
                  <a:schemeClr val="tx1"/>
                </a:solidFill>
                <a:effectLst/>
                <a:latin typeface="Arial" panose="020B0604020202020204" pitchFamily="34" charset="0"/>
              </a:rPr>
              <a:t>Ultralytics</a:t>
            </a:r>
            <a:r>
              <a:rPr kumimoji="0" lang="en-US" altLang="en-US" sz="1800" b="0" i="1" u="none" strike="noStrike" cap="none" normalizeH="0" baseline="0" dirty="0" smtClean="0">
                <a:ln>
                  <a:noFill/>
                </a:ln>
                <a:solidFill>
                  <a:schemeClr val="tx1"/>
                </a:solidFill>
                <a:effectLst/>
                <a:latin typeface="Arial" panose="020B0604020202020204" pitchFamily="34" charset="0"/>
              </a:rPr>
              <a:t> Object Detection Model.</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err="1" smtClean="0">
                <a:ln>
                  <a:noFill/>
                </a:ln>
                <a:solidFill>
                  <a:schemeClr val="tx1"/>
                </a:solidFill>
                <a:effectLst/>
                <a:latin typeface="Arial" panose="020B0604020202020204" pitchFamily="34" charset="0"/>
              </a:rPr>
              <a:t>Ultralytics</a:t>
            </a:r>
            <a:r>
              <a:rPr kumimoji="0" lang="en-US" altLang="en-US" sz="1800" b="0" i="0" u="none" strike="noStrike" cap="none" normalizeH="0" baseline="0" dirty="0" smtClean="0">
                <a:ln>
                  <a:noFill/>
                </a:ln>
                <a:solidFill>
                  <a:schemeClr val="tx1"/>
                </a:solidFill>
                <a:effectLst/>
                <a:latin typeface="Arial" panose="020B0604020202020204" pitchFamily="34" charset="0"/>
              </a:rPr>
              <a:t> Documentation, 2023.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Redmon</a:t>
            </a:r>
            <a:r>
              <a:rPr kumimoji="0" lang="en-US" altLang="en-US" sz="1800" b="1" i="0" u="none" strike="noStrike" cap="none" normalizeH="0" baseline="0" dirty="0" smtClean="0">
                <a:ln>
                  <a:noFill/>
                </a:ln>
                <a:solidFill>
                  <a:schemeClr val="tx1"/>
                </a:solidFill>
                <a:effectLst/>
                <a:latin typeface="Arial" panose="020B0604020202020204" pitchFamily="34" charset="0"/>
              </a:rPr>
              <a:t>, J., </a:t>
            </a:r>
            <a:r>
              <a:rPr kumimoji="0" lang="en-US" altLang="en-US" sz="1800" b="1" i="0" u="none" strike="noStrike" cap="none" normalizeH="0" baseline="0" dirty="0" err="1" smtClean="0">
                <a:ln>
                  <a:noFill/>
                </a:ln>
                <a:solidFill>
                  <a:schemeClr val="tx1"/>
                </a:solidFill>
                <a:effectLst/>
                <a:latin typeface="Arial" panose="020B0604020202020204" pitchFamily="34" charset="0"/>
              </a:rPr>
              <a:t>Divvala</a:t>
            </a:r>
            <a:r>
              <a:rPr kumimoji="0" lang="en-US" altLang="en-US" sz="1800" b="1" i="0" u="none" strike="noStrike" cap="none" normalizeH="0" baseline="0" dirty="0" smtClean="0">
                <a:ln>
                  <a:noFill/>
                </a:ln>
                <a:solidFill>
                  <a:schemeClr val="tx1"/>
                </a:solidFill>
                <a:effectLst/>
                <a:latin typeface="Arial" panose="020B0604020202020204" pitchFamily="34" charset="0"/>
              </a:rPr>
              <a:t>, S., </a:t>
            </a:r>
            <a:r>
              <a:rPr kumimoji="0" lang="en-US" altLang="en-US" sz="1800" b="1" i="0" u="none" strike="noStrike" cap="none" normalizeH="0" baseline="0" dirty="0" err="1" smtClean="0">
                <a:ln>
                  <a:noFill/>
                </a:ln>
                <a:solidFill>
                  <a:schemeClr val="tx1"/>
                </a:solidFill>
                <a:effectLst/>
                <a:latin typeface="Arial" panose="020B0604020202020204" pitchFamily="34" charset="0"/>
              </a:rPr>
              <a:t>Girshick</a:t>
            </a:r>
            <a:r>
              <a:rPr kumimoji="0" lang="en-US" altLang="en-US" sz="1800" b="1" i="0" u="none" strike="noStrike" cap="none" normalizeH="0" baseline="0" dirty="0" smtClean="0">
                <a:ln>
                  <a:noFill/>
                </a:ln>
                <a:solidFill>
                  <a:schemeClr val="tx1"/>
                </a:solidFill>
                <a:effectLst/>
                <a:latin typeface="Arial" panose="020B0604020202020204" pitchFamily="34" charset="0"/>
              </a:rPr>
              <a:t>, R., &amp; </a:t>
            </a:r>
            <a:r>
              <a:rPr kumimoji="0" lang="en-US" altLang="en-US" sz="1800" b="1" i="0" u="none" strike="noStrike" cap="none" normalizeH="0" baseline="0" dirty="0" err="1" smtClean="0">
                <a:ln>
                  <a:noFill/>
                </a:ln>
                <a:solidFill>
                  <a:schemeClr val="tx1"/>
                </a:solidFill>
                <a:effectLst/>
                <a:latin typeface="Arial" panose="020B0604020202020204" pitchFamily="34" charset="0"/>
              </a:rPr>
              <a:t>Farhadi</a:t>
            </a:r>
            <a:r>
              <a:rPr kumimoji="0" lang="en-US" altLang="en-US" sz="1800" b="1" i="0" u="none" strike="noStrike" cap="none" normalizeH="0" baseline="0" dirty="0" smtClean="0">
                <a:ln>
                  <a:noFill/>
                </a:ln>
                <a:solidFill>
                  <a:schemeClr val="tx1"/>
                </a:solidFill>
                <a:effectLst/>
                <a:latin typeface="Arial" panose="020B0604020202020204" pitchFamily="34" charset="0"/>
              </a:rPr>
              <a:t>, A. - </a:t>
            </a:r>
            <a:r>
              <a:rPr kumimoji="0" lang="en-US" altLang="en-US" sz="1800" b="0" i="1" u="none" strike="noStrike" cap="none" normalizeH="0" baseline="0" dirty="0" smtClean="0">
                <a:ln>
                  <a:noFill/>
                </a:ln>
                <a:solidFill>
                  <a:schemeClr val="tx1"/>
                </a:solidFill>
                <a:effectLst/>
                <a:latin typeface="Arial" panose="020B0604020202020204" pitchFamily="34" charset="0"/>
              </a:rPr>
              <a:t>You Only Look Once: Unified, Real-Time Object Detection.</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IEEE Conference on Computer Vision and Pattern Recognition (CVPR), 2016.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He, K., Zhang, X., Ren, S., &amp; Sun, J. - </a:t>
            </a:r>
            <a:r>
              <a:rPr kumimoji="0" lang="en-US" altLang="en-US" sz="1800" b="0" i="1" u="none" strike="noStrike" cap="none" normalizeH="0" baseline="0" dirty="0" smtClean="0">
                <a:ln>
                  <a:noFill/>
                </a:ln>
                <a:solidFill>
                  <a:schemeClr val="tx1"/>
                </a:solidFill>
                <a:effectLst/>
                <a:latin typeface="Arial" panose="020B0604020202020204" pitchFamily="34" charset="0"/>
              </a:rPr>
              <a:t>Deep Residual Learning for Image Recognition.</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IEEE CVPR, 2016.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Simonyan</a:t>
            </a:r>
            <a:r>
              <a:rPr kumimoji="0" lang="en-US" altLang="en-US" sz="1800" b="1" i="0" u="none" strike="noStrike" cap="none" normalizeH="0" baseline="0" dirty="0" smtClean="0">
                <a:ln>
                  <a:noFill/>
                </a:ln>
                <a:solidFill>
                  <a:schemeClr val="tx1"/>
                </a:solidFill>
                <a:effectLst/>
                <a:latin typeface="Arial" panose="020B0604020202020204" pitchFamily="34" charset="0"/>
              </a:rPr>
              <a:t>, K., &amp; Zisserman, A. - </a:t>
            </a:r>
            <a:r>
              <a:rPr kumimoji="0" lang="en-US" altLang="en-US" sz="1800" b="0" i="1" u="none" strike="noStrike" cap="none" normalizeH="0" baseline="0" dirty="0" smtClean="0">
                <a:ln>
                  <a:noFill/>
                </a:ln>
                <a:solidFill>
                  <a:schemeClr val="tx1"/>
                </a:solidFill>
                <a:effectLst/>
                <a:latin typeface="Arial" panose="020B0604020202020204" pitchFamily="34" charset="0"/>
              </a:rPr>
              <a:t>Very Deep Convolutional Networks for Large-Scale Image Recognition.</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International Conference on Learning Representations (ICLR), 2015.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Ultralytics</a:t>
            </a:r>
            <a:r>
              <a:rPr kumimoji="0" lang="en-US" altLang="en-US" sz="1800" b="1" i="0" u="none" strike="noStrike" cap="none" normalizeH="0" baseline="0" dirty="0" smtClean="0">
                <a:ln>
                  <a:noFill/>
                </a:ln>
                <a:solidFill>
                  <a:schemeClr val="tx1"/>
                </a:solidFill>
                <a:effectLst/>
                <a:latin typeface="Arial" panose="020B0604020202020204" pitchFamily="34" charset="0"/>
              </a:rPr>
              <a:t> Research Team. - </a:t>
            </a:r>
            <a:r>
              <a:rPr kumimoji="0" lang="en-US" altLang="en-US" sz="1800" b="0" i="1" u="none" strike="noStrike" cap="none" normalizeH="0" baseline="0" dirty="0" err="1" smtClean="0">
                <a:ln>
                  <a:noFill/>
                </a:ln>
                <a:solidFill>
                  <a:schemeClr val="tx1"/>
                </a:solidFill>
                <a:effectLst/>
                <a:latin typeface="Arial" panose="020B0604020202020204" pitchFamily="34" charset="0"/>
              </a:rPr>
              <a:t>Ultralytics</a:t>
            </a:r>
            <a:r>
              <a:rPr kumimoji="0" lang="en-US" altLang="en-US" sz="1800" b="0" i="1" u="none" strike="noStrike" cap="none" normalizeH="0" baseline="0" dirty="0" smtClean="0">
                <a:ln>
                  <a:noFill/>
                </a:ln>
                <a:solidFill>
                  <a:schemeClr val="tx1"/>
                </a:solidFill>
                <a:effectLst/>
                <a:latin typeface="Arial" panose="020B0604020202020204" pitchFamily="34" charset="0"/>
              </a:rPr>
              <a:t> YOLO Documentation.</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err="1" smtClean="0">
                <a:ln>
                  <a:noFill/>
                </a:ln>
                <a:solidFill>
                  <a:schemeClr val="tx1"/>
                </a:solidFill>
                <a:effectLst/>
                <a:latin typeface="Arial" panose="020B0604020202020204" pitchFamily="34" charset="0"/>
              </a:rPr>
              <a:t>Ultralytics</a:t>
            </a:r>
            <a:r>
              <a:rPr kumimoji="0" lang="en-US" altLang="en-US" sz="1800" b="0" i="0" u="none" strike="noStrike" cap="none" normalizeH="0" baseline="0" dirty="0" smtClean="0">
                <a:ln>
                  <a:noFill/>
                </a:ln>
                <a:solidFill>
                  <a:schemeClr val="tx1"/>
                </a:solidFill>
                <a:effectLst/>
                <a:latin typeface="Arial" panose="020B0604020202020204" pitchFamily="34" charset="0"/>
              </a:rPr>
              <a:t> Documentation, 2024. </a:t>
            </a:r>
          </a:p>
        </p:txBody>
      </p:sp>
    </p:spTree>
    <p:extLst>
      <p:ext uri="{BB962C8B-B14F-4D97-AF65-F5344CB8AC3E}">
        <p14:creationId xmlns:p14="http://schemas.microsoft.com/office/powerpoint/2010/main" val="21583901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671" y="1516807"/>
            <a:ext cx="10515600" cy="1325563"/>
          </a:xfrm>
        </p:spPr>
        <p:txBody>
          <a:bodyPr/>
          <a:lstStyle/>
          <a:p>
            <a:pPr algn="ctr"/>
            <a:r>
              <a:rPr lang="en-IN" b="1" dirty="0" smtClean="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40943" y="5791200"/>
            <a:ext cx="4021794" cy="754743"/>
          </a:xfrm>
        </p:spPr>
        <p:txBody>
          <a:bodyPr>
            <a:normAutofit/>
          </a:bodyPr>
          <a:lstStyle/>
          <a:p>
            <a:pPr marL="0" indent="0">
              <a:buNone/>
            </a:pPr>
            <a:r>
              <a:rPr lang="en-IN" sz="1800" b="1" dirty="0" smtClean="0"/>
              <a:t>“</a:t>
            </a:r>
            <a:r>
              <a:rPr lang="en-IN" sz="1800" dirty="0"/>
              <a:t>Detect. </a:t>
            </a:r>
            <a:r>
              <a:rPr lang="en-IN" sz="1800" dirty="0" err="1"/>
              <a:t>Analyze</a:t>
            </a:r>
            <a:r>
              <a:rPr lang="en-IN" sz="1800" dirty="0"/>
              <a:t>. Ensure Quality.</a:t>
            </a:r>
            <a:r>
              <a:rPr lang="en-IN" sz="1800" b="1" dirty="0" smtClean="0"/>
              <a:t>”</a:t>
            </a:r>
            <a:endParaRPr lang="en-IN" sz="1800" b="1" dirty="0"/>
          </a:p>
        </p:txBody>
      </p:sp>
      <p:sp>
        <p:nvSpPr>
          <p:cNvPr id="4" name="Rectangle 3"/>
          <p:cNvSpPr/>
          <p:nvPr/>
        </p:nvSpPr>
        <p:spPr>
          <a:xfrm>
            <a:off x="2425318" y="3630014"/>
            <a:ext cx="7410306" cy="369332"/>
          </a:xfrm>
          <a:prstGeom prst="rect">
            <a:avLst/>
          </a:prstGeom>
        </p:spPr>
        <p:txBody>
          <a:bodyPr wrap="square">
            <a:spAutoFit/>
          </a:bodyPr>
          <a:lstStyle/>
          <a:p>
            <a:r>
              <a:rPr lang="en-US" dirty="0" smtClean="0"/>
              <a:t>“</a:t>
            </a:r>
            <a:r>
              <a:rPr lang="en-IN" dirty="0"/>
              <a:t>Transforming Traditional Fabric Inspection into Intelligent Quality Assurance</a:t>
            </a:r>
            <a:r>
              <a:rPr lang="en-US" dirty="0" smtClean="0"/>
              <a:t>”</a:t>
            </a:r>
            <a:endParaRPr lang="en-IN" dirty="0"/>
          </a:p>
        </p:txBody>
      </p:sp>
    </p:spTree>
    <p:extLst>
      <p:ext uri="{BB962C8B-B14F-4D97-AF65-F5344CB8AC3E}">
        <p14:creationId xmlns:p14="http://schemas.microsoft.com/office/powerpoint/2010/main" val="516300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335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8047</TotalTime>
  <Words>1655</Words>
  <Application>Microsoft Office PowerPoint</Application>
  <PresentationFormat>Widescreen</PresentationFormat>
  <Paragraphs>158</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Arial Black</vt:lpstr>
      <vt:lpstr>Calibri</vt:lpstr>
      <vt:lpstr>Calibri Light</vt:lpstr>
      <vt:lpstr>Inter</vt:lpstr>
      <vt:lpstr>华文楷体</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USE CASE DIAGRAM</vt:lpstr>
      <vt:lpstr>SEQUENCE DIAGRAM</vt:lpstr>
      <vt:lpstr>CLASS DIAGRAM</vt:lpstr>
      <vt:lpstr>MODULES</vt:lpstr>
      <vt:lpstr>PowerPoint Presentation</vt:lpstr>
      <vt:lpstr>PowerPoint Presentation</vt:lpstr>
      <vt:lpstr>PowerPoint Presentation</vt:lpstr>
      <vt:lpstr>PowerPoint Presentation</vt:lpstr>
      <vt:lpstr>PowerPoint Presentation</vt:lpstr>
      <vt:lpstr>PowerPoint Presentation</vt:lpstr>
      <vt:lpstr>REFERENCE</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45</cp:revision>
  <dcterms:created xsi:type="dcterms:W3CDTF">2026-04-24T04:54:05Z</dcterms:created>
  <dcterms:modified xsi:type="dcterms:W3CDTF">2026-08-07T08:21:26Z</dcterms:modified>
</cp:coreProperties>
</file>